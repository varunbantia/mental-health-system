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8" r:id="rId12"/>
    <p:sldId id="269" r:id="rId13"/>
    <p:sldId id="270"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DF5ED6-CE3D-4D03-94EF-051EBF9DF1A3}" v="38" dt="2026-01-11T06:38:48.554"/>
  </p1510:revLst>
</p1510:revInfo>
</file>

<file path=ppt/tableStyles.xml><?xml version="1.0" encoding="utf-8"?>
<a:tblStyleLst xmlns:a="http://schemas.openxmlformats.org/drawingml/2006/main" def="{5C22544A-7EE6-4342-B048-85BDC9FD1C3A}">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69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9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1048591"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592"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00"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01"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04"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05"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08"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09"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12"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13"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16"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17"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20"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1"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24"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5"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28"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9"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34"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35"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37"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38"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0486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048643"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44"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048581"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582"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048583"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84"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85"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1048593"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594"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lvl6pPr>
            <a:lvl7pPr marL="3200400" lvl="6" indent="-342900" algn="l" rtl="0">
              <a:spcBef>
                <a:spcPts val="360"/>
              </a:spcBef>
              <a:spcAft>
                <a:spcPts val="0"/>
              </a:spcAft>
              <a:buClr>
                <a:schemeClr val="dk1"/>
              </a:buClr>
              <a:buSzPts val="1800"/>
              <a:buChar char="•"/>
            </a:lvl7pPr>
            <a:lvl8pPr marL="3657600" lvl="7" indent="-342900" algn="l" rtl="0">
              <a:spcBef>
                <a:spcPts val="360"/>
              </a:spcBef>
              <a:spcAft>
                <a:spcPts val="0"/>
              </a:spcAft>
              <a:buClr>
                <a:schemeClr val="dk1"/>
              </a:buClr>
              <a:buSzPts val="1800"/>
              <a:buChar char="•"/>
            </a:lvl8pPr>
            <a:lvl9pPr marL="4114800" lvl="8" indent="-342900" algn="l" rtl="0">
              <a:spcBef>
                <a:spcPts val="360"/>
              </a:spcBef>
              <a:spcAft>
                <a:spcPts val="0"/>
              </a:spcAft>
              <a:buClr>
                <a:schemeClr val="dk1"/>
              </a:buClr>
              <a:buSzPts val="1800"/>
              <a:buChar char="•"/>
            </a:lvl9pPr>
          </a:lstStyle>
          <a:p>
            <a:endParaRPr/>
          </a:p>
        </p:txBody>
      </p:sp>
      <p:sp>
        <p:nvSpPr>
          <p:cNvPr id="1048595"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96"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97"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1048665"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66"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1048667"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8"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9"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1048670"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71"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1048672"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1048673"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74"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75"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1048676"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77"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1048678"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1048679"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1048680"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1048681"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2"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3"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1048645"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46"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47"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48"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pic>
        <p:nvPicPr>
          <p:cNvPr id="2097155" name="Google Shape;52;p7" descr="C:\Users\AMMU\Desktop\Border.png"/>
          <p:cNvPicPr preferRelativeResize="0">
            <a:picLocks/>
          </p:cNvPicPr>
          <p:nvPr/>
        </p:nvPicPr>
        <p:blipFill rotWithShape="1">
          <a:blip r:embed="rId2">
            <a:alphaModFix/>
          </a:blip>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104868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1048687"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88"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1048689"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1048690"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91"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92"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1048654"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55" name="Google Shape;66;p10"/>
          <p:cNvSpPr>
            <a:spLocks noGrp="1"/>
          </p:cNvSpPr>
          <p:nvPr>
            <p:ph type="pic" idx="2"/>
          </p:nvPr>
        </p:nvSpPr>
        <p:spPr>
          <a:xfrm>
            <a:off x="2389717" y="612775"/>
            <a:ext cx="7315200" cy="4114800"/>
          </a:xfrm>
          <a:prstGeom prst="rect">
            <a:avLst/>
          </a:prstGeom>
          <a:noFill/>
          <a:ln>
            <a:noFill/>
          </a:ln>
        </p:spPr>
      </p:sp>
      <p:sp>
        <p:nvSpPr>
          <p:cNvPr id="1048656"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1048657"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8"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9"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1048660"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61"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lvl1pPr>
            <a:lvl2pPr marL="914400" lvl="1" indent="-342900" algn="l" rtl="0">
              <a:spcBef>
                <a:spcPts val="360"/>
              </a:spcBef>
              <a:spcAft>
                <a:spcPts val="0"/>
              </a:spcAft>
              <a:buClr>
                <a:schemeClr val="dk1"/>
              </a:buClr>
              <a:buSzPts val="1800"/>
              <a:buChar char="–"/>
            </a:lvl2pPr>
            <a:lvl3pPr marL="1371600" lvl="2" indent="-342900" algn="l" rtl="0">
              <a:spcBef>
                <a:spcPts val="360"/>
              </a:spcBef>
              <a:spcAft>
                <a:spcPts val="0"/>
              </a:spcAft>
              <a:buClr>
                <a:schemeClr val="dk1"/>
              </a:buClr>
              <a:buSzPts val="1800"/>
              <a:buChar char="•"/>
            </a:lvl3pPr>
            <a:lvl4pPr marL="1828800" lvl="3" indent="-342900" algn="l" rtl="0">
              <a:spcBef>
                <a:spcPts val="360"/>
              </a:spcBef>
              <a:spcAft>
                <a:spcPts val="0"/>
              </a:spcAft>
              <a:buClr>
                <a:schemeClr val="dk1"/>
              </a:buClr>
              <a:buSzPts val="1800"/>
              <a:buChar char="–"/>
            </a:lvl4pPr>
            <a:lvl5pPr marL="2286000" lvl="4" indent="-342900" algn="l" rtl="0">
              <a:spcBef>
                <a:spcPts val="360"/>
              </a:spcBef>
              <a:spcAft>
                <a:spcPts val="0"/>
              </a:spcAft>
              <a:buClr>
                <a:schemeClr val="dk1"/>
              </a:buClr>
              <a:buSzPts val="1800"/>
              <a:buChar char="»"/>
            </a:lvl5pPr>
            <a:lvl6pPr marL="2743200" lvl="5" indent="-342900" algn="l" rtl="0">
              <a:spcBef>
                <a:spcPts val="360"/>
              </a:spcBef>
              <a:spcAft>
                <a:spcPts val="0"/>
              </a:spcAft>
              <a:buClr>
                <a:schemeClr val="dk1"/>
              </a:buClr>
              <a:buSzPts val="1800"/>
              <a:buChar char="•"/>
            </a:lvl6pPr>
            <a:lvl7pPr marL="3200400" lvl="6" indent="-342900" algn="l" rtl="0">
              <a:spcBef>
                <a:spcPts val="360"/>
              </a:spcBef>
              <a:spcAft>
                <a:spcPts val="0"/>
              </a:spcAft>
              <a:buClr>
                <a:schemeClr val="dk1"/>
              </a:buClr>
              <a:buSzPts val="1800"/>
              <a:buChar char="•"/>
            </a:lvl7pPr>
            <a:lvl8pPr marL="3657600" lvl="7" indent="-342900" algn="l" rtl="0">
              <a:spcBef>
                <a:spcPts val="360"/>
              </a:spcBef>
              <a:spcAft>
                <a:spcPts val="0"/>
              </a:spcAft>
              <a:buClr>
                <a:schemeClr val="dk1"/>
              </a:buClr>
              <a:buSzPts val="1800"/>
              <a:buChar char="•"/>
            </a:lvl8pPr>
            <a:lvl9pPr marL="4114800" lvl="8" indent="-342900" algn="l" rtl="0">
              <a:spcBef>
                <a:spcPts val="360"/>
              </a:spcBef>
              <a:spcAft>
                <a:spcPts val="0"/>
              </a:spcAft>
              <a:buClr>
                <a:schemeClr val="dk1"/>
              </a:buClr>
              <a:buSzPts val="1800"/>
              <a:buChar char="•"/>
            </a:lvl9pPr>
          </a:lstStyle>
          <a:p>
            <a:endParaRPr/>
          </a:p>
        </p:txBody>
      </p:sp>
      <p:sp>
        <p:nvSpPr>
          <p:cNvPr id="1048662"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3"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4"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1048649"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50"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lvl1pPr>
            <a:lvl2pPr marL="914400" lvl="1" indent="-342900" algn="l" rtl="0">
              <a:spcBef>
                <a:spcPts val="360"/>
              </a:spcBef>
              <a:spcAft>
                <a:spcPts val="0"/>
              </a:spcAft>
              <a:buClr>
                <a:schemeClr val="dk1"/>
              </a:buClr>
              <a:buSzPts val="1800"/>
              <a:buChar char="–"/>
            </a:lvl2pPr>
            <a:lvl3pPr marL="1371600" lvl="2" indent="-342900" algn="l" rtl="0">
              <a:spcBef>
                <a:spcPts val="360"/>
              </a:spcBef>
              <a:spcAft>
                <a:spcPts val="0"/>
              </a:spcAft>
              <a:buClr>
                <a:schemeClr val="dk1"/>
              </a:buClr>
              <a:buSzPts val="1800"/>
              <a:buChar char="•"/>
            </a:lvl3pPr>
            <a:lvl4pPr marL="1828800" lvl="3" indent="-342900" algn="l" rtl="0">
              <a:spcBef>
                <a:spcPts val="360"/>
              </a:spcBef>
              <a:spcAft>
                <a:spcPts val="0"/>
              </a:spcAft>
              <a:buClr>
                <a:schemeClr val="dk1"/>
              </a:buClr>
              <a:buSzPts val="1800"/>
              <a:buChar char="–"/>
            </a:lvl4pPr>
            <a:lvl5pPr marL="2286000" lvl="4" indent="-342900" algn="l" rtl="0">
              <a:spcBef>
                <a:spcPts val="360"/>
              </a:spcBef>
              <a:spcAft>
                <a:spcPts val="0"/>
              </a:spcAft>
              <a:buClr>
                <a:schemeClr val="dk1"/>
              </a:buClr>
              <a:buSzPts val="1800"/>
              <a:buChar char="»"/>
            </a:lvl5pPr>
            <a:lvl6pPr marL="2743200" lvl="5" indent="-342900" algn="l" rtl="0">
              <a:spcBef>
                <a:spcPts val="360"/>
              </a:spcBef>
              <a:spcAft>
                <a:spcPts val="0"/>
              </a:spcAft>
              <a:buClr>
                <a:schemeClr val="dk1"/>
              </a:buClr>
              <a:buSzPts val="1800"/>
              <a:buChar char="•"/>
            </a:lvl6pPr>
            <a:lvl7pPr marL="3200400" lvl="6" indent="-342900" algn="l" rtl="0">
              <a:spcBef>
                <a:spcPts val="360"/>
              </a:spcBef>
              <a:spcAft>
                <a:spcPts val="0"/>
              </a:spcAft>
              <a:buClr>
                <a:schemeClr val="dk1"/>
              </a:buClr>
              <a:buSzPts val="1800"/>
              <a:buChar char="•"/>
            </a:lvl7pPr>
            <a:lvl8pPr marL="3657600" lvl="7" indent="-342900" algn="l" rtl="0">
              <a:spcBef>
                <a:spcPts val="360"/>
              </a:spcBef>
              <a:spcAft>
                <a:spcPts val="0"/>
              </a:spcAft>
              <a:buClr>
                <a:schemeClr val="dk1"/>
              </a:buClr>
              <a:buSzPts val="1800"/>
              <a:buChar char="•"/>
            </a:lvl8pPr>
            <a:lvl9pPr marL="4114800" lvl="8" indent="-342900" algn="l" rtl="0">
              <a:spcBef>
                <a:spcPts val="360"/>
              </a:spcBef>
              <a:spcAft>
                <a:spcPts val="0"/>
              </a:spcAft>
              <a:buClr>
                <a:schemeClr val="dk1"/>
              </a:buClr>
              <a:buSzPts val="1800"/>
              <a:buChar char="•"/>
            </a:lvl9pPr>
          </a:lstStyle>
          <a:p>
            <a:endParaRPr/>
          </a:p>
        </p:txBody>
      </p:sp>
      <p:sp>
        <p:nvSpPr>
          <p:cNvPr id="1048651"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2"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3"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104857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04857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4857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4857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4858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lang="en-GB"/>
          </a:p>
        </p:txBody>
      </p:sp>
      <p:cxnSp>
        <p:nvCxnSpPr>
          <p:cNvPr id="3145728" name="Google Shape;11;p1"/>
          <p:cNvCxnSpPr>
            <a:cxnSpLocks/>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2097152" name="Google Shape;12;p1"/>
          <p:cNvPicPr preferRelativeResize="0">
            <a:picLocks/>
          </p:cNvPicPr>
          <p:nvPr/>
        </p:nvPicPr>
        <p:blipFill rotWithShape="1">
          <a:blip r:embed="rId13">
            <a:alphaModFix/>
          </a:blip>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1048586" name="Google Shape;87;p13"/>
          <p:cNvSpPr txBox="1">
            <a:spLocks noGrp="1"/>
          </p:cNvSpPr>
          <p:nvPr>
            <p:ph type="ctrTitle"/>
          </p:nvPr>
        </p:nvSpPr>
        <p:spPr>
          <a:xfrm>
            <a:off x="790422" y="1215399"/>
            <a:ext cx="10363200" cy="962898"/>
          </a:xfrm>
          <a:prstGeom prst="rect">
            <a:avLst/>
          </a:prstGeom>
          <a:noFill/>
          <a:ln>
            <a:noFill/>
          </a:ln>
        </p:spPr>
        <p:txBody>
          <a:bodyPr spcFirstLastPara="1" wrap="square" lIns="91425" tIns="45700" rIns="91425" bIns="45700" anchor="ctr" anchorCtr="0">
            <a:noAutofit/>
          </a:bodyPr>
          <a:lstStyle/>
          <a:p>
            <a:pPr algn="ctr"/>
            <a:r>
              <a:rPr lang="en-US" sz="2400" dirty="0">
                <a:solidFill>
                  <a:schemeClr val="accent1">
                    <a:lumMod val="50000"/>
                  </a:schemeClr>
                </a:solidFill>
                <a:latin typeface="Verdana" panose="020B0604030504040204" pitchFamily="34" charset="0"/>
                <a:ea typeface="Verdana" panose="020B0604030504040204" pitchFamily="34" charset="0"/>
              </a:rPr>
              <a:t>Development of a Digital Mental Health and Psychological Support System for Students in Higher Education</a:t>
            </a:r>
            <a:br>
              <a:rPr lang="en-US" sz="2400" b="0" dirty="0">
                <a:solidFill>
                  <a:srgbClr val="000000"/>
                </a:solidFill>
                <a:latin typeface="Aptos" panose="020B0004020202020204" pitchFamily="34" charset="0"/>
              </a:rPr>
            </a:br>
            <a:endParaRPr sz="2400" dirty="0">
              <a:solidFill>
                <a:schemeClr val="tx1"/>
              </a:solidFill>
              <a:latin typeface="Cambria" panose="02040503050406030204" pitchFamily="18" charset="0"/>
              <a:ea typeface="Cambria" panose="02040503050406030204" pitchFamily="18" charset="0"/>
            </a:endParaRPr>
          </a:p>
        </p:txBody>
      </p:sp>
      <p:sp>
        <p:nvSpPr>
          <p:cNvPr id="1048587"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CSE_08</a:t>
            </a:r>
            <a:endParaRPr sz="1800" dirty="0">
              <a:latin typeface="Cambria" panose="02040503050406030204" pitchFamily="18" charset="0"/>
              <a:ea typeface="Cambria" panose="02040503050406030204" pitchFamily="18" charset="0"/>
            </a:endParaRPr>
          </a:p>
        </p:txBody>
      </p:sp>
      <p:sp>
        <p:nvSpPr>
          <p:cNvPr id="1048588"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dirty="0">
                <a:solidFill>
                  <a:srgbClr val="17365D"/>
                </a:solidFill>
                <a:latin typeface="Cambria" panose="02040503050406030204" pitchFamily="18" charset="0"/>
                <a:ea typeface="Cambria" panose="02040503050406030204" pitchFamily="18" charset="0"/>
                <a:sym typeface="Verdana"/>
              </a:rPr>
              <a:t>Mr Jerrin Joe Francis</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4194304" name="Google Shape;89;p13"/>
          <p:cNvGraphicFramePr>
            <a:graphicFrameLocks/>
          </p:cNvGraphicFramePr>
          <p:nvPr/>
        </p:nvGraphicFramePr>
        <p:xfrm>
          <a:off x="553347" y="2721840"/>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20221CSE0372</a:t>
                      </a:r>
                    </a:p>
                    <a:p>
                      <a:pPr marL="0" marR="0" lvl="0" indent="0" algn="ctr" rtl="0">
                        <a:spcBef>
                          <a:spcPts val="0"/>
                        </a:spcBef>
                        <a:spcAft>
                          <a:spcPts val="0"/>
                        </a:spcAft>
                        <a:buFont typeface="+mj-lt"/>
                        <a:buNone/>
                      </a:pPr>
                      <a:r>
                        <a:rPr lang="en-IN" sz="1800" u="none" strike="noStrike" cap="none" dirty="0"/>
                        <a:t>20221CSE0442</a:t>
                      </a:r>
                    </a:p>
                    <a:p>
                      <a:pPr marL="0" marR="0" lvl="0" indent="0" algn="ctr" rtl="0">
                        <a:spcBef>
                          <a:spcPts val="0"/>
                        </a:spcBef>
                        <a:spcAft>
                          <a:spcPts val="0"/>
                        </a:spcAft>
                        <a:buFont typeface="+mj-lt"/>
                        <a:buNone/>
                      </a:pPr>
                      <a:r>
                        <a:rPr lang="en-IN" sz="1800" u="none" strike="noStrike" cap="none" dirty="0"/>
                        <a:t>20221CSE0440</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Varun Bantia</a:t>
                      </a:r>
                    </a:p>
                    <a:p>
                      <a:pPr marL="0" marR="0" lvl="0" indent="0" algn="ctr" rtl="0">
                        <a:spcBef>
                          <a:spcPts val="0"/>
                        </a:spcBef>
                        <a:spcAft>
                          <a:spcPts val="0"/>
                        </a:spcAft>
                        <a:buNone/>
                      </a:pPr>
                      <a:r>
                        <a:rPr lang="en-IN" sz="1800" u="none" strike="noStrike" cap="none" dirty="0"/>
                        <a:t>Prathyusha K</a:t>
                      </a:r>
                    </a:p>
                    <a:p>
                      <a:pPr marL="0" marR="0" lvl="0" indent="0" algn="ctr" rtl="0">
                        <a:spcBef>
                          <a:spcPts val="0"/>
                        </a:spcBef>
                        <a:spcAft>
                          <a:spcPts val="0"/>
                        </a:spcAft>
                        <a:buNone/>
                      </a:pPr>
                      <a:r>
                        <a:rPr lang="en-US" altLang="en-GB" sz="1800" u="none" strike="noStrike" cap="none" dirty="0"/>
                        <a:t>Venkatashiva Reddy</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048589"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ct val="100000"/>
            </a:pPr>
            <a:r>
              <a:rPr lang="en-IN" sz="1800" dirty="0"/>
              <a:t>CSE7302</a:t>
            </a:r>
            <a:r>
              <a:rPr lang="en-GB" sz="1800" b="1" dirty="0">
                <a:solidFill>
                  <a:srgbClr val="17365D"/>
                </a:solidFill>
                <a:latin typeface="Cambria" panose="02040503050406030204" pitchFamily="18" charset="0"/>
                <a:ea typeface="Cambria" panose="02040503050406030204" pitchFamily="18" charset="0"/>
                <a:cs typeface="Verdana"/>
                <a:sym typeface="Verdana"/>
              </a:rPr>
              <a:t>-</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U</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1048590"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600" b="1" dirty="0">
                <a:solidFill>
                  <a:schemeClr val="tx1"/>
                </a:solidFill>
                <a:latin typeface="Cambria" panose="02040503050406030204" pitchFamily="18" charset="0"/>
                <a:ea typeface="Cambria" panose="02040503050406030204" pitchFamily="18" charset="0"/>
                <a:cs typeface="Verdana"/>
                <a:sym typeface="Verdana"/>
              </a:rPr>
              <a:t>School of Computer Science and Engineering</a:t>
            </a:r>
            <a:endParaRPr lang="en-US" sz="1600" dirty="0">
              <a:solidFill>
                <a:schemeClr val="tx1"/>
              </a:solidFill>
              <a:latin typeface="Cambria" panose="02040503050406030204" pitchFamily="18" charset="0"/>
              <a:ea typeface="Cambria" panose="02040503050406030204" pitchFamily="18" charset="0"/>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dirty="0"/>
              <a:t>Dr. Asif Mohammed and Dr. Blessed Prince</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dirty="0"/>
              <a:t>Dr. </a:t>
            </a:r>
            <a:r>
              <a:rPr lang="en-IN" sz="1800" dirty="0" err="1"/>
              <a:t>Jayavadivel</a:t>
            </a:r>
            <a:r>
              <a:rPr lang="en-IN" sz="1800" dirty="0"/>
              <a:t> Ravi and </a:t>
            </a:r>
            <a:r>
              <a:rPr lang="en-IN" sz="1800" dirty="0" err="1"/>
              <a:t>Mr.Muthuraju</a:t>
            </a:r>
            <a:r>
              <a:rPr lang="en-IN" sz="1800" dirty="0"/>
              <a:t> V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598" name="Google Shape;96;p14"/>
          <p:cNvSpPr txBox="1">
            <a:spLocks noGrp="1"/>
          </p:cNvSpPr>
          <p:nvPr>
            <p:ph type="title"/>
          </p:nvPr>
        </p:nvSpPr>
        <p:spPr>
          <a:xfrm>
            <a:off x="812800" y="283782"/>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1048599" name="Google Shape;97;p14"/>
          <p:cNvSpPr txBox="1">
            <a:spLocks noGrp="1"/>
          </p:cNvSpPr>
          <p:nvPr>
            <p:ph type="body" idx="1"/>
          </p:nvPr>
        </p:nvSpPr>
        <p:spPr>
          <a:xfrm>
            <a:off x="139130" y="977474"/>
            <a:ext cx="11766358" cy="5139861"/>
          </a:xfrm>
          <a:prstGeom prst="rect">
            <a:avLst/>
          </a:prstGeom>
          <a:noFill/>
          <a:ln>
            <a:noFill/>
          </a:ln>
        </p:spPr>
        <p:txBody>
          <a:bodyPr spcFirstLastPara="1" wrap="square" lIns="91425" tIns="45700" rIns="91425" bIns="45700" anchor="t" anchorCtr="0">
            <a:normAutofit fontScale="41447" lnSpcReduction="20000"/>
          </a:bodyPr>
          <a:lstStyle/>
          <a:p>
            <a:pPr marL="342900" lvl="0" indent="-190500" algn="just">
              <a:spcBef>
                <a:spcPts val="0"/>
              </a:spcBef>
              <a:buNone/>
            </a:pPr>
            <a:r>
              <a:rPr lang="en-US" sz="4300" dirty="0">
                <a:latin typeface="Verdana" panose="020B0604030504040204" pitchFamily="34" charset="0"/>
                <a:ea typeface="Verdana" panose="020B0604030504040204" pitchFamily="34" charset="0"/>
              </a:rPr>
              <a:t>Organization: </a:t>
            </a:r>
            <a:r>
              <a:rPr lang="en-US" sz="4500" dirty="0">
                <a:latin typeface="Verdana" panose="020B0604030504040204" pitchFamily="34" charset="0"/>
                <a:ea typeface="Verdana" panose="020B0604030504040204" pitchFamily="34" charset="0"/>
              </a:rPr>
              <a:t>Government of Jammu  and Kashmir  </a:t>
            </a:r>
          </a:p>
          <a:p>
            <a:pPr marL="342900" lvl="0" indent="-190500" algn="just">
              <a:lnSpc>
                <a:spcPct val="200000"/>
              </a:lnSpc>
              <a:spcBef>
                <a:spcPts val="0"/>
              </a:spcBef>
              <a:buNone/>
            </a:pPr>
            <a:r>
              <a:rPr lang="en-US" sz="4300" dirty="0">
                <a:latin typeface="Verdana" panose="020B0604030504040204" pitchFamily="34" charset="0"/>
                <a:ea typeface="Verdana" panose="020B0604030504040204" pitchFamily="34" charset="0"/>
              </a:rPr>
              <a:t>Category (Hardware / Software / Both) :</a:t>
            </a:r>
            <a:r>
              <a:rPr lang="en-US" sz="3300" dirty="0">
                <a:latin typeface="Verdana" panose="020B0604030504040204" pitchFamily="34" charset="0"/>
                <a:ea typeface="Verdana" panose="020B0604030504040204" pitchFamily="34" charset="0"/>
              </a:rPr>
              <a:t> </a:t>
            </a:r>
            <a:r>
              <a:rPr lang="en-US" sz="4500" dirty="0">
                <a:latin typeface="Verdana" panose="020B0604030504040204" pitchFamily="34" charset="0"/>
                <a:ea typeface="Verdana" panose="020B0604030504040204" pitchFamily="34" charset="0"/>
              </a:rPr>
              <a:t>Software</a:t>
            </a:r>
          </a:p>
          <a:p>
            <a:pPr marL="0" lvl="0" indent="0" algn="just" eaLnBrk="0" fontAlgn="base" hangingPunct="0">
              <a:spcBef>
                <a:spcPct val="0"/>
              </a:spcBef>
              <a:spcAft>
                <a:spcPct val="0"/>
              </a:spcAft>
              <a:buClrTx/>
              <a:buSzTx/>
              <a:buNone/>
            </a:pPr>
            <a:r>
              <a:rPr lang="en-US" sz="4300" dirty="0">
                <a:latin typeface="Verdana" panose="020B0604030504040204" pitchFamily="34" charset="0"/>
                <a:ea typeface="Verdana" panose="020B0604030504040204" pitchFamily="34" charset="0"/>
              </a:rPr>
              <a:t>Problem Description :</a:t>
            </a:r>
            <a:r>
              <a:rPr lang="en-US" sz="3300" dirty="0">
                <a:latin typeface="Verdana" panose="020B0604030504040204" pitchFamily="34" charset="0"/>
                <a:ea typeface="Verdana" panose="020B0604030504040204" pitchFamily="34" charset="0"/>
              </a:rPr>
              <a:t> </a:t>
            </a:r>
            <a:r>
              <a:rPr lang="en-US" altLang="en-US" sz="4800" dirty="0">
                <a:solidFill>
                  <a:schemeClr val="tx1"/>
                </a:solidFill>
                <a:latin typeface="Verdana" panose="020B0604030504040204" pitchFamily="34" charset="0"/>
                <a:ea typeface="Verdana" panose="020B0604030504040204" pitchFamily="34" charset="0"/>
              </a:rPr>
              <a:t>Mental health issues among students in higher education are rising due to academic pressure, career uncertainty, financial stress, social challenges, and rapid lifestyle changes. Many students experience anxiety, depression, stress, and burnout, yet existing mental health support systems in colleges and universities are often insufficient. Traditional counseling services are limited by long waiting times, lack of trained professionals, fixed schedules, and social stigma, which discourages students from seeking help. As a result, early signs of psychological distress frequently go unnoticed, negatively affecting students’ academic performance, personal well-being, and overall quality of life.</a:t>
            </a:r>
          </a:p>
          <a:p>
            <a:pPr marL="0" lvl="0" indent="0" algn="just" eaLnBrk="0" fontAlgn="base" hangingPunct="0">
              <a:spcBef>
                <a:spcPct val="0"/>
              </a:spcBef>
              <a:spcAft>
                <a:spcPct val="0"/>
              </a:spcAft>
              <a:buClrTx/>
              <a:buSzTx/>
              <a:buNone/>
            </a:pPr>
            <a:r>
              <a:rPr lang="en-US" altLang="en-US" sz="4800" dirty="0">
                <a:solidFill>
                  <a:schemeClr val="tx1"/>
                </a:solidFill>
                <a:latin typeface="Verdana" panose="020B0604030504040204" pitchFamily="34" charset="0"/>
                <a:ea typeface="Verdana" panose="020B0604030504040204" pitchFamily="34" charset="0"/>
              </a:rPr>
              <a:t>Current support mechanisms are largely reactive, offering assistance only after problems become severe, and they lack continuous monitoring and personalized care. There is minimal integration of self-help resources, peer support, and technology-driven insights that could enable early intervention. This creates a gap between students’ mental health needs and the support available to them. Therefore, there is a strong need for a digital mental health and psychological support system tailored for higher education students, one that ensures accessibility, confidentiality, early detection, and timely intervention to promote long-term well-being and academic success.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602"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1048603"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675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606" name="Google Shape;97;p14"/>
          <p:cNvSpPr txBox="1">
            <a:spLocks noGrp="1"/>
          </p:cNvSpPr>
          <p:nvPr>
            <p:ph type="body" idx="1"/>
          </p:nvPr>
        </p:nvSpPr>
        <p:spPr>
          <a:xfrm>
            <a:off x="266439" y="1171305"/>
            <a:ext cx="11659121" cy="3924299"/>
          </a:xfrm>
          <a:prstGeom prst="rect">
            <a:avLst/>
          </a:prstGeom>
          <a:noFill/>
          <a:ln>
            <a:noFill/>
          </a:ln>
        </p:spPr>
        <p:txBody>
          <a:bodyPr spcFirstLastPara="1" wrap="square" lIns="91425" tIns="45700" rIns="91425" bIns="45700" anchor="t" anchorCtr="0">
            <a:normAutofit fontScale="25000" lnSpcReduction="20000"/>
          </a:bodyPr>
          <a:lstStyle/>
          <a:p>
            <a:r>
              <a:rPr lang="en-US" sz="8800" dirty="0"/>
              <a:t>Students in higher education are increasingly affected by mental health challenges such as stress, anxiety, depression, and burnout, driven by academic pressure, career uncertainty, financial constraints, and social factors. However, existing mental health support systems in educational institutions are often inadequate, difficult to access, and limited by long waiting times, insufficient counseling resources, lack of personalization, and social stigma. As a result, many students do not seek timely help, leading to undetected and worsening psychological issues that adversely impact their academic performance, well-being, and overall development.</a:t>
            </a:r>
          </a:p>
          <a:p>
            <a:r>
              <a:rPr lang="en-US" sz="8800" dirty="0"/>
              <a:t>There is a lack of a unified, accessible, and proactive digital platform that can provide continuous mental health monitoring, early identification of psychological distress, confidential support, and timely professional intervention for students in higher education. This gap highlights the need for an effective digital mental health and psychological support system that can deliver scalable, personalized, and stigma-free mental health services, ensuring improved student well-being and a supportive academic environment.</a:t>
            </a:r>
          </a:p>
          <a:p>
            <a:pPr marL="76200" indent="0">
              <a:buNone/>
            </a:pPr>
            <a:endParaRPr lang="en-US" dirty="0"/>
          </a:p>
        </p:txBody>
      </p:sp>
      <p:sp>
        <p:nvSpPr>
          <p:cNvPr id="1048607" name="Title 2"/>
          <p:cNvSpPr>
            <a:spLocks noGrp="1"/>
          </p:cNvSpPr>
          <p:nvPr>
            <p:ph type="title"/>
          </p:nvPr>
        </p:nvSpPr>
        <p:spPr/>
        <p:txBody>
          <a:bodyPr/>
          <a:lstStyle/>
          <a:p>
            <a:r>
              <a:rPr lang="en-IN" dirty="0"/>
              <a:t>Problem Statement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610" name="Google Shape;97;p14"/>
          <p:cNvSpPr txBox="1">
            <a:spLocks noGrp="1"/>
          </p:cNvSpPr>
          <p:nvPr>
            <p:ph type="body" idx="1"/>
          </p:nvPr>
        </p:nvSpPr>
        <p:spPr>
          <a:xfrm>
            <a:off x="320040" y="1069849"/>
            <a:ext cx="11871960" cy="5084063"/>
          </a:xfrm>
          <a:prstGeom prst="rect">
            <a:avLst/>
          </a:prstGeom>
          <a:noFill/>
          <a:ln>
            <a:noFill/>
          </a:ln>
        </p:spPr>
        <p:txBody>
          <a:bodyPr spcFirstLastPara="1" wrap="square" lIns="91425" tIns="45700" rIns="91425" bIns="45700" anchor="t" anchorCtr="0">
            <a:normAutofit fontScale="25000" lnSpcReduction="20000"/>
          </a:bodyPr>
          <a:lstStyle/>
          <a:p>
            <a:r>
              <a:rPr lang="en-US" sz="9600" dirty="0"/>
              <a:t>To design and develop a digital mental health and psychological support system specifically tailored to the needs of students in higher education.</a:t>
            </a:r>
          </a:p>
          <a:p>
            <a:r>
              <a:rPr lang="en-US" sz="9600" dirty="0"/>
              <a:t>To provide accessible, confidential, and stigma-free mental health support through a user-friendly digital platform.</a:t>
            </a:r>
          </a:p>
          <a:p>
            <a:r>
              <a:rPr lang="en-US" sz="9600" dirty="0"/>
              <a:t>To enable early identification and continuous monitoring of students’ mental health conditions using self-assessment and data-driven tools.</a:t>
            </a:r>
          </a:p>
          <a:p>
            <a:r>
              <a:rPr lang="en-US" sz="9600" dirty="0"/>
              <a:t>To offer personalized self-help resources, coping strategies, and mental wellness programs based on individual student needs.</a:t>
            </a:r>
          </a:p>
          <a:p>
            <a:r>
              <a:rPr lang="en-US" sz="9600" dirty="0"/>
              <a:t>To facilitate timely access to professional counseling and psychological support through digital consultations and referrals.</a:t>
            </a:r>
          </a:p>
          <a:p>
            <a:r>
              <a:rPr lang="en-US" sz="9600" dirty="0"/>
              <a:t>To promote awareness and mental health literacy among students, encouraging proactive self-care and help-seeking behavior.</a:t>
            </a:r>
          </a:p>
          <a:p>
            <a:r>
              <a:rPr lang="en-US" sz="9600" dirty="0"/>
              <a:t>To support educational institutions in understanding mental health trends and improving student well-being through aggregated insights while maintaining data privacy.</a:t>
            </a:r>
          </a:p>
          <a:p>
            <a:pPr marL="76200" indent="0">
              <a:buNone/>
            </a:pPr>
            <a:endParaRPr lang="en-US" dirty="0"/>
          </a:p>
        </p:txBody>
      </p:sp>
      <p:sp>
        <p:nvSpPr>
          <p:cNvPr id="1048611" name="Title 2"/>
          <p:cNvSpPr>
            <a:spLocks noGrp="1"/>
          </p:cNvSpPr>
          <p:nvPr>
            <p:ph type="title"/>
          </p:nvPr>
        </p:nvSpPr>
        <p:spPr/>
        <p:txBody>
          <a:bodyPr/>
          <a:lstStyle/>
          <a:p>
            <a:pPr marL="152400" algn="just">
              <a:lnSpc>
                <a:spcPct val="200000"/>
              </a:lnSpc>
            </a:pPr>
            <a:r>
              <a:rPr lang="en-US" dirty="0">
                <a:latin typeface="Cambria" panose="02040503050406030204" pitchFamily="18" charset="0"/>
                <a:ea typeface="Cambria" panose="02040503050406030204" pitchFamily="18" charset="0"/>
              </a:rPr>
              <a:t>Objectives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614" name="Title 2"/>
          <p:cNvSpPr>
            <a:spLocks noGrp="1"/>
          </p:cNvSpPr>
          <p:nvPr>
            <p:ph type="title"/>
          </p:nvPr>
        </p:nvSpPr>
        <p:spPr/>
        <p:txBody>
          <a:bodyPr/>
          <a:lstStyle/>
          <a:p>
            <a:pPr marL="152400" algn="just">
              <a:lnSpc>
                <a:spcPct val="200000"/>
              </a:lnSpc>
            </a:pPr>
            <a:r>
              <a:rPr lang="en-US" dirty="0">
                <a:latin typeface="Cambria" panose="02040503050406030204" pitchFamily="18" charset="0"/>
                <a:ea typeface="Cambria" panose="02040503050406030204" pitchFamily="18" charset="0"/>
              </a:rPr>
              <a:t>Background and Related work for title Selection</a:t>
            </a:r>
          </a:p>
        </p:txBody>
      </p:sp>
      <p:sp>
        <p:nvSpPr>
          <p:cNvPr id="1048615" name="Text Placeholder 1"/>
          <p:cNvSpPr>
            <a:spLocks noGrp="1" noChangeArrowheads="1"/>
          </p:cNvSpPr>
          <p:nvPr>
            <p:ph type="body" idx="1"/>
          </p:nvPr>
        </p:nvSpPr>
        <p:spPr bwMode="auto">
          <a:xfrm>
            <a:off x="0" y="836834"/>
            <a:ext cx="12192000" cy="566821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76200" indent="0">
              <a:buNone/>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Background:</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US" sz="1800" dirty="0"/>
              <a:t>Mental health has become a major concern in higher education as students increasingly face psychological challenges such as stress, anxiety, depression, and burnout due to academic pressure, social adjustments, financial constraints, and career-related uncertainty. These mental health issues negatively impact students’ academic performance, retention, and overall well-being. Traditional counseling services in educational institutions often struggle to meet growing demand because of limited resources, long waiting times, and stigma associated with seeking help. With the rapid growth of digital technology and widespread smartphone usage among students, digital platforms have emerged as a viable means to provide accessible, confidential, and continuous mental health support.</a:t>
            </a:r>
          </a:p>
          <a:p>
            <a:pPr marL="76200" indent="0">
              <a:buNone/>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Related Work:</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sz="1800" dirty="0">
                <a:solidFill>
                  <a:schemeClr val="tx1"/>
                </a:solidFill>
                <a:latin typeface="Verdana" panose="020B0604030504040204" pitchFamily="34" charset="0"/>
                <a:ea typeface="Verdana" panose="020B0604030504040204" pitchFamily="34" charset="0"/>
              </a:rPr>
              <a:t>Development of mobile applications focused on </a:t>
            </a:r>
            <a:r>
              <a:rPr lang="en-US" altLang="en-US" sz="1800" b="1" dirty="0">
                <a:solidFill>
                  <a:schemeClr val="tx1"/>
                </a:solidFill>
                <a:latin typeface="Verdana" panose="020B0604030504040204" pitchFamily="34" charset="0"/>
                <a:ea typeface="Verdana" panose="020B0604030504040204" pitchFamily="34" charset="0"/>
              </a:rPr>
              <a:t>stress management, meditation, and mindfulness</a:t>
            </a:r>
            <a:r>
              <a:rPr lang="en-US" altLang="en-US" sz="1800" dirty="0">
                <a:solidFill>
                  <a:schemeClr val="tx1"/>
                </a:solidFill>
                <a:latin typeface="Verdana" panose="020B0604030504040204" pitchFamily="34" charset="0"/>
                <a:ea typeface="Verdana" panose="020B0604030504040204" pitchFamily="34" charset="0"/>
              </a:rPr>
              <a:t>, which help students manage daily anxiety but offer limited clinical support.</a:t>
            </a:r>
          </a:p>
          <a:p>
            <a:pPr marL="0" lvl="0" indent="0" eaLnBrk="0" fontAlgn="base" hangingPunct="0">
              <a:spcBef>
                <a:spcPct val="0"/>
              </a:spcBef>
              <a:spcAft>
                <a:spcPct val="0"/>
              </a:spcAft>
              <a:buClrTx/>
              <a:buSzTx/>
              <a:buFontTx/>
              <a:buChar char="•"/>
            </a:pPr>
            <a:r>
              <a:rPr lang="en-US" altLang="en-US" sz="1800" dirty="0">
                <a:solidFill>
                  <a:schemeClr val="tx1"/>
                </a:solidFill>
                <a:latin typeface="Verdana" panose="020B0604030504040204" pitchFamily="34" charset="0"/>
                <a:ea typeface="Verdana" panose="020B0604030504040204" pitchFamily="34" charset="0"/>
              </a:rPr>
              <a:t>Use of </a:t>
            </a:r>
            <a:r>
              <a:rPr lang="en-US" altLang="en-US" sz="1800" b="1" dirty="0">
                <a:solidFill>
                  <a:schemeClr val="tx1"/>
                </a:solidFill>
                <a:latin typeface="Verdana" panose="020B0604030504040204" pitchFamily="34" charset="0"/>
                <a:ea typeface="Verdana" panose="020B0604030504040204" pitchFamily="34" charset="0"/>
              </a:rPr>
              <a:t>mood tracking and self-assessment tools</a:t>
            </a:r>
            <a:r>
              <a:rPr lang="en-US" altLang="en-US" sz="1800" dirty="0">
                <a:solidFill>
                  <a:schemeClr val="tx1"/>
                </a:solidFill>
                <a:latin typeface="Verdana" panose="020B0604030504040204" pitchFamily="34" charset="0"/>
                <a:ea typeface="Verdana" panose="020B0604030504040204" pitchFamily="34" charset="0"/>
              </a:rPr>
              <a:t> that allow users to monitor emotional patterns, though many lack intelligent analysis or early warning mechanisms.</a:t>
            </a:r>
          </a:p>
          <a:p>
            <a:pPr marL="0" lvl="0" indent="0" eaLnBrk="0" fontAlgn="base" hangingPunct="0">
              <a:spcBef>
                <a:spcPct val="0"/>
              </a:spcBef>
              <a:spcAft>
                <a:spcPct val="0"/>
              </a:spcAft>
              <a:buClrTx/>
              <a:buSzTx/>
              <a:buFontTx/>
              <a:buChar char="•"/>
            </a:pPr>
            <a:r>
              <a:rPr lang="en-US" altLang="en-US" sz="1800" dirty="0">
                <a:solidFill>
                  <a:schemeClr val="tx1"/>
                </a:solidFill>
                <a:latin typeface="Verdana" panose="020B0604030504040204" pitchFamily="34" charset="0"/>
                <a:ea typeface="Verdana" panose="020B0604030504040204" pitchFamily="34" charset="0"/>
              </a:rPr>
              <a:t>Implementation of </a:t>
            </a:r>
            <a:r>
              <a:rPr lang="en-US" altLang="en-US" sz="1800" b="1" dirty="0">
                <a:solidFill>
                  <a:schemeClr val="tx1"/>
                </a:solidFill>
                <a:latin typeface="Verdana" panose="020B0604030504040204" pitchFamily="34" charset="0"/>
                <a:ea typeface="Verdana" panose="020B0604030504040204" pitchFamily="34" charset="0"/>
              </a:rPr>
              <a:t>Cognitive Behavioral Therapy (CBT)-based digital interventions</a:t>
            </a:r>
            <a:r>
              <a:rPr lang="en-US" altLang="en-US" sz="1800" dirty="0">
                <a:solidFill>
                  <a:schemeClr val="tx1"/>
                </a:solidFill>
                <a:latin typeface="Verdana" panose="020B0604030504040204" pitchFamily="34" charset="0"/>
                <a:ea typeface="Verdana" panose="020B0604030504040204" pitchFamily="34" charset="0"/>
              </a:rPr>
              <a:t>, shown to reduce symptoms of anxiety and depression when used consistently.</a:t>
            </a:r>
          </a:p>
          <a:p>
            <a:pPr marL="0" lvl="0" indent="0" eaLnBrk="0" fontAlgn="base" hangingPunct="0">
              <a:spcBef>
                <a:spcPct val="0"/>
              </a:spcBef>
              <a:spcAft>
                <a:spcPct val="0"/>
              </a:spcAft>
              <a:buClrTx/>
              <a:buSzTx/>
              <a:buFontTx/>
              <a:buChar char="•"/>
            </a:pPr>
            <a:r>
              <a:rPr lang="en-US" altLang="en-US" sz="1800" dirty="0">
                <a:solidFill>
                  <a:schemeClr val="tx1"/>
                </a:solidFill>
                <a:latin typeface="Verdana" panose="020B0604030504040204" pitchFamily="34" charset="0"/>
                <a:ea typeface="Verdana" panose="020B0604030504040204" pitchFamily="34" charset="0"/>
              </a:rPr>
              <a:t>Adoption of </a:t>
            </a:r>
            <a:r>
              <a:rPr lang="en-US" altLang="en-US" sz="1800" b="1" dirty="0">
                <a:solidFill>
                  <a:schemeClr val="tx1"/>
                </a:solidFill>
                <a:latin typeface="Verdana" panose="020B0604030504040204" pitchFamily="34" charset="0"/>
                <a:ea typeface="Verdana" panose="020B0604030504040204" pitchFamily="34" charset="0"/>
              </a:rPr>
              <a:t>online counseling and tele-therapy platforms</a:t>
            </a:r>
            <a:r>
              <a:rPr lang="en-US" altLang="en-US" sz="1800" dirty="0">
                <a:solidFill>
                  <a:schemeClr val="tx1"/>
                </a:solidFill>
                <a:latin typeface="Verdana" panose="020B0604030504040204" pitchFamily="34" charset="0"/>
                <a:ea typeface="Verdana" panose="020B0604030504040204" pitchFamily="34" charset="0"/>
              </a:rPr>
              <a:t>, providing remote access to mental health professionals, especially during and after the COVID-19 pandemic</a:t>
            </a:r>
            <a:r>
              <a:rPr lang="en-US" altLang="en-US" sz="1600" dirty="0">
                <a:solidFill>
                  <a:schemeClr val="tx1"/>
                </a:solidFill>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048618"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048619"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 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a:t>
            </a:r>
            <a:r>
              <a:rPr lang="en-IN" dirty="0"/>
              <a:t>Frontend: Android Studio (Java/Kotlin), XML UI</a:t>
            </a:r>
          </a:p>
          <a:p>
            <a:r>
              <a:rPr lang="en-IN" dirty="0"/>
              <a:t>Backend: </a:t>
            </a:r>
            <a:r>
              <a:rPr lang="en-US" altLang="en-GB" dirty="0"/>
              <a:t>Java</a:t>
            </a:r>
            <a:endParaRPr lang="zh-CN" altLang="en-US" dirty="0"/>
          </a:p>
          <a:p>
            <a:r>
              <a:rPr lang="en-IN" dirty="0"/>
              <a:t>AI Model: OpenAI GPT-3/GPT-4 APIs</a:t>
            </a:r>
          </a:p>
          <a:p>
            <a:r>
              <a:rPr lang="en-IN" dirty="0"/>
              <a:t>Database: Firebase </a:t>
            </a:r>
            <a:r>
              <a:rPr lang="en-IN" dirty="0" err="1"/>
              <a:t>Firestore</a:t>
            </a:r>
            <a:endParaRPr lang="en-IN" dirty="0"/>
          </a:p>
          <a:p>
            <a:r>
              <a:rPr lang="en-IN" dirty="0"/>
              <a:t>Speech-to-Text: Google Speech API</a:t>
            </a:r>
          </a:p>
          <a:p>
            <a:r>
              <a:rPr lang="en-IN" dirty="0"/>
              <a:t>Text-to-Speech: Android TTS </a:t>
            </a:r>
          </a:p>
          <a:p>
            <a:r>
              <a:rPr lang="en-IN" dirty="0"/>
              <a:t>Multilingual Translation: Google Translate API</a:t>
            </a:r>
          </a:p>
          <a:p>
            <a:pPr marL="76200" indent="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048622"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048623"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p>
          <a:p>
            <a:pPr marL="76200" indent="0">
              <a:buNone/>
            </a:pPr>
            <a:r>
              <a:rPr lang="en-US" dirty="0">
                <a:latin typeface="Cambria" panose="02040503050406030204" pitchFamily="18" charset="0"/>
                <a:ea typeface="Cambria" panose="02040503050406030204" pitchFamily="18" charset="0"/>
              </a:rPr>
              <a:t>Software:</a:t>
            </a:r>
          </a:p>
          <a:p>
            <a:r>
              <a:rPr lang="en-US" dirty="0">
                <a:latin typeface="Cambria" panose="02040503050406030204" pitchFamily="18" charset="0"/>
                <a:ea typeface="Cambria" panose="02040503050406030204" pitchFamily="18" charset="0"/>
              </a:rPr>
              <a:t>- Android Studio</a:t>
            </a:r>
          </a:p>
          <a:p>
            <a:r>
              <a:rPr lang="en-US" dirty="0">
                <a:latin typeface="Cambria" panose="02040503050406030204" pitchFamily="18" charset="0"/>
                <a:ea typeface="Cambria" panose="02040503050406030204" pitchFamily="18" charset="0"/>
              </a:rPr>
              <a:t>- </a:t>
            </a:r>
            <a:r>
              <a:rPr lang="en-US" altLang="en-GB" dirty="0">
                <a:latin typeface="Cambria" panose="02040503050406030204" pitchFamily="18" charset="0"/>
                <a:ea typeface="Cambria" panose="02040503050406030204" pitchFamily="18" charset="0"/>
              </a:rPr>
              <a:t>Java</a:t>
            </a:r>
            <a:endParaRPr lang="zh-CN" altLang="en-US"/>
          </a:p>
          <a:p>
            <a:r>
              <a:rPr lang="en-US" dirty="0">
                <a:latin typeface="Cambria" panose="02040503050406030204" pitchFamily="18" charset="0"/>
                <a:ea typeface="Cambria" panose="02040503050406030204" pitchFamily="18" charset="0"/>
              </a:rPr>
              <a:t>- Firebase</a:t>
            </a:r>
          </a:p>
          <a:p>
            <a:r>
              <a:rPr lang="en-US" dirty="0">
                <a:latin typeface="Cambria" panose="02040503050406030204" pitchFamily="18" charset="0"/>
                <a:ea typeface="Cambria" panose="02040503050406030204" pitchFamily="18" charset="0"/>
              </a:rPr>
              <a:t>- OpenAI GPT API</a:t>
            </a:r>
          </a:p>
          <a:p>
            <a:pPr marL="76200" indent="0">
              <a:buNone/>
            </a:pPr>
            <a:endParaRPr lang="en-US"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Hardware:</a:t>
            </a:r>
          </a:p>
          <a:p>
            <a:r>
              <a:rPr lang="en-US" dirty="0">
                <a:latin typeface="Cambria" panose="02040503050406030204" pitchFamily="18" charset="0"/>
                <a:ea typeface="Cambria" panose="02040503050406030204" pitchFamily="18" charset="0"/>
              </a:rPr>
              <a:t>- Android Smartphone (min Android 8.0)</a:t>
            </a:r>
          </a:p>
          <a:p>
            <a:r>
              <a:rPr lang="en-US" dirty="0">
                <a:latin typeface="Cambria" panose="02040503050406030204" pitchFamily="18" charset="0"/>
                <a:ea typeface="Cambria" panose="02040503050406030204" pitchFamily="18" charset="0"/>
              </a:rPr>
              <a:t>- Development PC (min 8GB RAM)</a:t>
            </a:r>
          </a:p>
          <a:p>
            <a:pPr marL="342900" lvl="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048626"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Innovation or Novel Contributions</a:t>
            </a:r>
            <a:endParaRPr lang="en-US" sz="3600"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B103A8B9-03F5-2248-AF5D-84257B3A3616}"/>
              </a:ext>
            </a:extLst>
          </p:cNvPr>
          <p:cNvSpPr>
            <a:spLocks noChangeArrowheads="1"/>
          </p:cNvSpPr>
          <p:nvPr/>
        </p:nvSpPr>
        <p:spPr bwMode="auto">
          <a:xfrm>
            <a:off x="103239" y="967180"/>
            <a:ext cx="12088761"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Integration of an </a:t>
            </a: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AI-driven mental health support system</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specifically tailored for higher education students within a single Android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Real-time </a:t>
            </a: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conversational psychological support</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using advanced language models to provide empathetic, context-aware responses.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Multimodal interaction</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combining text, voice input (speech-to-text), and audio responses (text-to-speech) for improved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Multilingual mental health support</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enabling students from diverse linguistic backgrounds to access psychological assistance comfortably.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Confidential and stigma-free digital platform</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that encourages students to seek help without fear of judgment.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Scalable and institution-ready architecture</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that can complement existing counseling services while maintaining data privacy and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Early mental health risk identification</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through continuous interaction patterns and self-assessment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048630"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048631"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1048632"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1048633" name="Google Shape;115;p17"/>
          <p:cNvSpPr txBox="1"/>
          <p:nvPr/>
        </p:nvSpPr>
        <p:spPr>
          <a:xfrm>
            <a:off x="1087120" y="996696"/>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sz="3200" dirty="0">
                <a:latin typeface="Cambria" panose="02040503050406030204" pitchFamily="18" charset="0"/>
                <a:ea typeface="Cambria" panose="02040503050406030204" pitchFamily="18" charset="0"/>
              </a:rPr>
              <a:t>https://github.com/varunbantia/mental-health-system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048636"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2097153" name="Picture 3"/>
          <p:cNvPicPr>
            <a:picLocks noChangeAspect="1"/>
          </p:cNvPicPr>
          <p:nvPr/>
        </p:nvPicPr>
        <p:blipFill>
          <a:blip r:embed="rId3"/>
          <a:stretch>
            <a:fillRect/>
          </a:stretch>
        </p:blipFill>
        <p:spPr>
          <a:xfrm>
            <a:off x="1024128" y="1142995"/>
            <a:ext cx="10351008" cy="45720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048639"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D858E366-D6F0-FEB1-7E51-7C4D643AC28A}"/>
              </a:ext>
            </a:extLst>
          </p:cNvPr>
          <p:cNvSpPr>
            <a:spLocks noChangeArrowheads="1"/>
          </p:cNvSpPr>
          <p:nvPr/>
        </p:nvSpPr>
        <p:spPr bwMode="auto">
          <a:xfrm>
            <a:off x="189187" y="1028343"/>
            <a:ext cx="1182413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World Health Organization (WHO). </a:t>
            </a:r>
            <a:r>
              <a:rPr kumimoji="0" lang="en-US" altLang="en-US" sz="18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Mental health of students in higher education</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WHO Publications, 2021.</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Eisenberg, D., Hunt, J., &amp; Speer, N. “Mental health in American colleges and universities: Variation across student subgroups.” </a:t>
            </a:r>
            <a:r>
              <a:rPr kumimoji="0" lang="en-US" altLang="en-US" sz="18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Journal of Nervous and Mental Disease</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2013.</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Auerbach, R. P. et al. “Mental disorders among college students in the World Health Organization World Mental Health Surveys.” </a:t>
            </a:r>
            <a:r>
              <a:rPr kumimoji="0" lang="en-US" altLang="en-US" sz="18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Psychological Medicine</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2016.</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Firth, J., et al. “The efficacy of smartphone-based mental health interventions for depressive symptoms.” </a:t>
            </a:r>
            <a:r>
              <a:rPr kumimoji="0" lang="en-US" altLang="en-US" sz="18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World Psychiatry</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2017.</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Inkster, B., Sarda, S., &amp; Subramanian, V. “An empathy-driven, conversational artificial intelligence agent for digital mental health.” </a:t>
            </a:r>
            <a:r>
              <a:rPr kumimoji="0" lang="en-US" altLang="en-US" sz="18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JMIR Mental Health</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2018.</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0" i="0" u="none" strike="noStrike" cap="none" normalizeH="0" baseline="0" dirty="0" err="1">
                <a:ln>
                  <a:noFill/>
                </a:ln>
                <a:solidFill>
                  <a:schemeClr val="tx1"/>
                </a:solidFill>
                <a:effectLst/>
                <a:latin typeface="Verdana" panose="020B0604030504040204" pitchFamily="34" charset="0"/>
                <a:ea typeface="Verdana" panose="020B0604030504040204" pitchFamily="34" charset="0"/>
              </a:rPr>
              <a:t>Torous</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J., &amp; Roberts, L. W. “Needed innovation in digital health and smartphone applications for mental health.” </a:t>
            </a:r>
            <a:r>
              <a:rPr kumimoji="0" lang="en-US" altLang="en-US" sz="18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JAMA Psychiatry</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2017.</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0" i="0" u="none" strike="noStrike" cap="none" normalizeH="0" baseline="0" dirty="0" err="1">
                <a:ln>
                  <a:noFill/>
                </a:ln>
                <a:solidFill>
                  <a:schemeClr val="tx1"/>
                </a:solidFill>
                <a:effectLst/>
                <a:latin typeface="Verdana" panose="020B0604030504040204" pitchFamily="34" charset="0"/>
                <a:ea typeface="Verdana" panose="020B0604030504040204" pitchFamily="34" charset="0"/>
              </a:rPr>
              <a:t>Karyotaki</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E., et al. “Effectiveness of internet-based cognitive behavioral therapy for depression.” </a:t>
            </a:r>
            <a:r>
              <a:rPr kumimoji="0" lang="en-US" altLang="en-US" sz="18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Psychological Medicine</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2018.</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Google Cloud. </a:t>
            </a:r>
            <a:r>
              <a:rPr kumimoji="0" lang="en-US" altLang="en-US" sz="18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Speech-to-Text API Documentation</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2023.</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Firebase. </a:t>
            </a:r>
            <a:r>
              <a:rPr kumimoji="0" lang="en-US" altLang="en-US" sz="18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Cloud Firestore Documentation</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Google Developers, 2023.</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OpenAI. </a:t>
            </a:r>
            <a:r>
              <a:rPr kumimoji="0" lang="en-US" altLang="en-US" sz="18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GPT-3 and GPT-4 Technical Reports</a:t>
            </a:r>
            <a:r>
              <a:rPr kumimoji="0" lang="en-US" altLang="en-US" sz="18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OpenAI, 2020–2023.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2097154"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1398</Words>
  <Application>Microsoft Office PowerPoint</Application>
  <PresentationFormat>Widescreen</PresentationFormat>
  <Paragraphs>104</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Cambria</vt:lpstr>
      <vt:lpstr>Verdana</vt:lpstr>
      <vt:lpstr>Wingdings</vt:lpstr>
      <vt:lpstr>Bioinformatics</vt:lpstr>
      <vt:lpstr>Development of a Digital Mental Health and Psychological Support System for Students in Higher Education </vt:lpstr>
      <vt:lpstr>Problem Statement Number: </vt:lpstr>
      <vt:lpstr>Content</vt:lpstr>
      <vt:lpstr>Problem Statement</vt:lpstr>
      <vt:lpstr>Objectives</vt:lpstr>
      <vt:lpstr>Background and Related work for title Selection</vt:lpstr>
      <vt:lpstr>Analysis of Problem Statement</vt:lpstr>
      <vt:lpstr>Analysis of Problem Statement (contd...)</vt:lpstr>
      <vt:lpstr>Innovation or Novel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Varun Bantia</cp:lastModifiedBy>
  <cp:revision>2</cp:revision>
  <dcterms:created xsi:type="dcterms:W3CDTF">2025-08-12T16:46:22Z</dcterms:created>
  <dcterms:modified xsi:type="dcterms:W3CDTF">2026-01-11T06:45:43Z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1a0a1e6851d74b63a855fc9bb534e9a8</vt:lpwstr>
  </property>
</Properties>
</file>