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71" r:id="rId9"/>
    <p:sldId id="268" r:id="rId10"/>
    <p:sldId id="269" r:id="rId11"/>
    <p:sldId id="270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8C6F0-7863-4FE9-BC7A-73355A57E165}" v="64" dt="2026-02-04T07:00:49.057"/>
  </p1510:revLst>
</p1510:revInfo>
</file>

<file path=ppt/tableStyles.xml><?xml version="1.0" encoding="utf-8"?>
<a:tblStyleLst xmlns:a="http://schemas.openxmlformats.org/drawingml/2006/main" def="{5C22544A-7EE6-4342-B048-85BDC9FD1C3A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Bantia" userId="74518b88c48bb1f6" providerId="LiveId" clId="{A77A4FC6-3C34-4AEA-B256-715E718BB2A1}"/>
    <pc:docChg chg="undo custSel addSld delSld modSld">
      <pc:chgData name="Varun Bantia" userId="74518b88c48bb1f6" providerId="LiveId" clId="{A77A4FC6-3C34-4AEA-B256-715E718BB2A1}" dt="2026-02-04T07:00:49.057" v="359"/>
      <pc:docMkLst>
        <pc:docMk/>
      </pc:docMkLst>
      <pc:sldChg chg="modSp mod">
        <pc:chgData name="Varun Bantia" userId="74518b88c48bb1f6" providerId="LiveId" clId="{A77A4FC6-3C34-4AEA-B256-715E718BB2A1}" dt="2026-01-31T03:44:56.856" v="1" actId="20577"/>
        <pc:sldMkLst>
          <pc:docMk/>
          <pc:sldMk cId="0" sldId="257"/>
        </pc:sldMkLst>
        <pc:spChg chg="mod">
          <ac:chgData name="Varun Bantia" userId="74518b88c48bb1f6" providerId="LiveId" clId="{A77A4FC6-3C34-4AEA-B256-715E718BB2A1}" dt="2026-01-31T03:44:56.856" v="1" actId="20577"/>
          <ac:spMkLst>
            <pc:docMk/>
            <pc:sldMk cId="0" sldId="257"/>
            <ac:spMk id="1048589" creationId="{00000000-0000-0000-0000-000000000000}"/>
          </ac:spMkLst>
        </pc:spChg>
      </pc:sldChg>
      <pc:sldChg chg="modSp mod">
        <pc:chgData name="Varun Bantia" userId="74518b88c48bb1f6" providerId="LiveId" clId="{A77A4FC6-3C34-4AEA-B256-715E718BB2A1}" dt="2026-01-31T03:47:19.831" v="48" actId="5793"/>
        <pc:sldMkLst>
          <pc:docMk/>
          <pc:sldMk cId="0" sldId="258"/>
        </pc:sldMkLst>
        <pc:spChg chg="mod">
          <ac:chgData name="Varun Bantia" userId="74518b88c48bb1f6" providerId="LiveId" clId="{A77A4FC6-3C34-4AEA-B256-715E718BB2A1}" dt="2026-01-31T03:45:42.638" v="41" actId="20577"/>
          <ac:spMkLst>
            <pc:docMk/>
            <pc:sldMk cId="0" sldId="258"/>
            <ac:spMk id="1048598" creationId="{00000000-0000-0000-0000-000000000000}"/>
          </ac:spMkLst>
        </pc:spChg>
        <pc:spChg chg="mod">
          <ac:chgData name="Varun Bantia" userId="74518b88c48bb1f6" providerId="LiveId" clId="{A77A4FC6-3C34-4AEA-B256-715E718BB2A1}" dt="2026-01-31T03:47:19.831" v="48" actId="5793"/>
          <ac:spMkLst>
            <pc:docMk/>
            <pc:sldMk cId="0" sldId="258"/>
            <ac:spMk id="1048599" creationId="{00000000-0000-0000-0000-000000000000}"/>
          </ac:spMkLst>
        </pc:spChg>
      </pc:sldChg>
      <pc:sldChg chg="addSp delSp modSp mod">
        <pc:chgData name="Varun Bantia" userId="74518b88c48bb1f6" providerId="LiveId" clId="{A77A4FC6-3C34-4AEA-B256-715E718BB2A1}" dt="2026-01-31T03:51:20.360" v="64" actId="1076"/>
        <pc:sldMkLst>
          <pc:docMk/>
          <pc:sldMk cId="0" sldId="261"/>
        </pc:sldMkLst>
        <pc:spChg chg="add mod">
          <ac:chgData name="Varun Bantia" userId="74518b88c48bb1f6" providerId="LiveId" clId="{A77A4FC6-3C34-4AEA-B256-715E718BB2A1}" dt="2026-01-31T03:51:20.360" v="64" actId="1076"/>
          <ac:spMkLst>
            <pc:docMk/>
            <pc:sldMk cId="0" sldId="261"/>
            <ac:spMk id="4" creationId="{9C9E5FB6-757D-672E-9297-741D0A9E81F8}"/>
          </ac:spMkLst>
        </pc:spChg>
      </pc:sldChg>
      <pc:sldChg chg="addSp delSp modSp mod">
        <pc:chgData name="Varun Bantia" userId="74518b88c48bb1f6" providerId="LiveId" clId="{A77A4FC6-3C34-4AEA-B256-715E718BB2A1}" dt="2026-02-04T07:00:49.057" v="359"/>
        <pc:sldMkLst>
          <pc:docMk/>
          <pc:sldMk cId="0" sldId="262"/>
        </pc:sldMkLst>
        <pc:spChg chg="add mod">
          <ac:chgData name="Varun Bantia" userId="74518b88c48bb1f6" providerId="LiveId" clId="{A77A4FC6-3C34-4AEA-B256-715E718BB2A1}" dt="2026-02-04T07:00:27.459" v="357" actId="5793"/>
          <ac:spMkLst>
            <pc:docMk/>
            <pc:sldMk cId="0" sldId="262"/>
            <ac:spMk id="4" creationId="{420C2A0F-51E0-5053-65C9-A17C91D67D20}"/>
          </ac:spMkLst>
        </pc:spChg>
        <pc:spChg chg="add mod">
          <ac:chgData name="Varun Bantia" userId="74518b88c48bb1f6" providerId="LiveId" clId="{A77A4FC6-3C34-4AEA-B256-715E718BB2A1}" dt="2026-02-04T07:00:49.057" v="359"/>
          <ac:spMkLst>
            <pc:docMk/>
            <pc:sldMk cId="0" sldId="262"/>
            <ac:spMk id="9" creationId="{B8FAA7A9-AAD8-52B5-355E-E4079873D848}"/>
          </ac:spMkLst>
        </pc:spChg>
        <pc:spChg chg="mod">
          <ac:chgData name="Varun Bantia" userId="74518b88c48bb1f6" providerId="LiveId" clId="{A77A4FC6-3C34-4AEA-B256-715E718BB2A1}" dt="2026-01-31T03:51:39.084" v="65"/>
          <ac:spMkLst>
            <pc:docMk/>
            <pc:sldMk cId="0" sldId="262"/>
            <ac:spMk id="1048614" creationId="{00000000-0000-0000-0000-000000000000}"/>
          </ac:spMkLst>
        </pc:spChg>
      </pc:sldChg>
      <pc:sldChg chg="modSp mod">
        <pc:chgData name="Varun Bantia" userId="74518b88c48bb1f6" providerId="LiveId" clId="{A77A4FC6-3C34-4AEA-B256-715E718BB2A1}" dt="2026-01-31T04:17:15.792" v="249" actId="14100"/>
        <pc:sldMkLst>
          <pc:docMk/>
          <pc:sldMk cId="0" sldId="263"/>
        </pc:sldMkLst>
        <pc:spChg chg="mod">
          <ac:chgData name="Varun Bantia" userId="74518b88c48bb1f6" providerId="LiveId" clId="{A77A4FC6-3C34-4AEA-B256-715E718BB2A1}" dt="2026-01-31T04:14:33.129" v="243"/>
          <ac:spMkLst>
            <pc:docMk/>
            <pc:sldMk cId="0" sldId="263"/>
            <ac:spMk id="1048618" creationId="{00000000-0000-0000-0000-000000000000}"/>
          </ac:spMkLst>
        </pc:spChg>
        <pc:spChg chg="mod">
          <ac:chgData name="Varun Bantia" userId="74518b88c48bb1f6" providerId="LiveId" clId="{A77A4FC6-3C34-4AEA-B256-715E718BB2A1}" dt="2026-01-31T04:17:15.792" v="249" actId="14100"/>
          <ac:spMkLst>
            <pc:docMk/>
            <pc:sldMk cId="0" sldId="263"/>
            <ac:spMk id="1048619" creationId="{00000000-0000-0000-0000-000000000000}"/>
          </ac:spMkLst>
        </pc:spChg>
      </pc:sldChg>
      <pc:sldChg chg="addSp delSp modSp mod">
        <pc:chgData name="Varun Bantia" userId="74518b88c48bb1f6" providerId="LiveId" clId="{A77A4FC6-3C34-4AEA-B256-715E718BB2A1}" dt="2026-01-31T04:18:47.688" v="258" actId="1076"/>
        <pc:sldMkLst>
          <pc:docMk/>
          <pc:sldMk cId="0" sldId="264"/>
        </pc:sldMkLst>
        <pc:spChg chg="mod">
          <ac:chgData name="Varun Bantia" userId="74518b88c48bb1f6" providerId="LiveId" clId="{A77A4FC6-3C34-4AEA-B256-715E718BB2A1}" dt="2026-01-31T04:17:59.018" v="250"/>
          <ac:spMkLst>
            <pc:docMk/>
            <pc:sldMk cId="0" sldId="264"/>
            <ac:spMk id="1048622" creationId="{00000000-0000-0000-0000-000000000000}"/>
          </ac:spMkLst>
        </pc:spChg>
        <pc:picChg chg="add mod">
          <ac:chgData name="Varun Bantia" userId="74518b88c48bb1f6" providerId="LiveId" clId="{A77A4FC6-3C34-4AEA-B256-715E718BB2A1}" dt="2026-01-31T04:18:47.688" v="258" actId="1076"/>
          <ac:picMkLst>
            <pc:docMk/>
            <pc:sldMk cId="0" sldId="264"/>
            <ac:picMk id="5" creationId="{4FC369F2-2F21-3798-3B72-AAE290F0151E}"/>
          </ac:picMkLst>
        </pc:picChg>
      </pc:sldChg>
      <pc:sldChg chg="modSp mod">
        <pc:chgData name="Varun Bantia" userId="74518b88c48bb1f6" providerId="LiveId" clId="{A77A4FC6-3C34-4AEA-B256-715E718BB2A1}" dt="2026-01-31T04:23:26.944" v="316" actId="1076"/>
        <pc:sldMkLst>
          <pc:docMk/>
          <pc:sldMk cId="0" sldId="265"/>
        </pc:sldMkLst>
        <pc:spChg chg="mod">
          <ac:chgData name="Varun Bantia" userId="74518b88c48bb1f6" providerId="LiveId" clId="{A77A4FC6-3C34-4AEA-B256-715E718BB2A1}" dt="2026-01-31T04:23:26.944" v="316" actId="1076"/>
          <ac:spMkLst>
            <pc:docMk/>
            <pc:sldMk cId="0" sldId="265"/>
            <ac:spMk id="2" creationId="{B103A8B9-03F5-2248-AF5D-84257B3A3616}"/>
          </ac:spMkLst>
        </pc:spChg>
        <pc:spChg chg="mod">
          <ac:chgData name="Varun Bantia" userId="74518b88c48bb1f6" providerId="LiveId" clId="{A77A4FC6-3C34-4AEA-B256-715E718BB2A1}" dt="2026-01-31T04:19:15.383" v="300" actId="20577"/>
          <ac:spMkLst>
            <pc:docMk/>
            <pc:sldMk cId="0" sldId="265"/>
            <ac:spMk id="1048626" creationId="{00000000-0000-0000-0000-000000000000}"/>
          </ac:spMkLst>
        </pc:spChg>
      </pc:sldChg>
      <pc:sldChg chg="modSp mod">
        <pc:chgData name="Varun Bantia" userId="74518b88c48bb1f6" providerId="LiveId" clId="{A77A4FC6-3C34-4AEA-B256-715E718BB2A1}" dt="2026-01-31T04:31:48.154" v="333" actId="1076"/>
        <pc:sldMkLst>
          <pc:docMk/>
          <pc:sldMk cId="0" sldId="269"/>
        </pc:sldMkLst>
        <pc:spChg chg="mod">
          <ac:chgData name="Varun Bantia" userId="74518b88c48bb1f6" providerId="LiveId" clId="{A77A4FC6-3C34-4AEA-B256-715E718BB2A1}" dt="2026-01-31T04:31:48.154" v="333" actId="1076"/>
          <ac:spMkLst>
            <pc:docMk/>
            <pc:sldMk cId="0" sldId="269"/>
            <ac:spMk id="2" creationId="{D858E366-D6F0-FEB1-7E51-7C4D643AC28A}"/>
          </ac:spMkLst>
        </pc:spChg>
      </pc:sldChg>
      <pc:sldChg chg="modSp new mod">
        <pc:chgData name="Varun Bantia" userId="74518b88c48bb1f6" providerId="LiveId" clId="{A77A4FC6-3C34-4AEA-B256-715E718BB2A1}" dt="2026-01-31T04:26:45.374" v="327" actId="14100"/>
        <pc:sldMkLst>
          <pc:docMk/>
          <pc:sldMk cId="3593018113" sldId="271"/>
        </pc:sldMkLst>
        <pc:spChg chg="mod">
          <ac:chgData name="Varun Bantia" userId="74518b88c48bb1f6" providerId="LiveId" clId="{A77A4FC6-3C34-4AEA-B256-715E718BB2A1}" dt="2026-01-31T04:24:28.711" v="318"/>
          <ac:spMkLst>
            <pc:docMk/>
            <pc:sldMk cId="3593018113" sldId="271"/>
            <ac:spMk id="2" creationId="{8569D3E2-9F94-444C-E151-66877C67688B}"/>
          </ac:spMkLst>
        </pc:spChg>
        <pc:spChg chg="mod">
          <ac:chgData name="Varun Bantia" userId="74518b88c48bb1f6" providerId="LiveId" clId="{A77A4FC6-3C34-4AEA-B256-715E718BB2A1}" dt="2026-01-31T04:26:45.374" v="327" actId="14100"/>
          <ac:spMkLst>
            <pc:docMk/>
            <pc:sldMk cId="3593018113" sldId="271"/>
            <ac:spMk id="3" creationId="{B7A6723C-6A73-D255-D34C-34713B9B45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9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2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1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3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7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5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9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8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4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583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4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95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6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7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67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8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9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1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72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73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4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5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7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8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9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80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81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2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3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8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2097155" name="Google Shape;52;p7" descr="C:\Users\AMMU\Desktop\Border.png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8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89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90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1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2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56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57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1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2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3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4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51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2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3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3145728" name="Google Shape;11;p1"/>
          <p:cNvCxnSpPr>
            <a:cxnSpLocks/>
          </p:cNvCxnSpPr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97152" name="Google Shape;12;p1"/>
          <p:cNvPicPr preferRelativeResize="0">
            <a:picLocks/>
          </p:cNvPicPr>
          <p:nvPr/>
        </p:nvPicPr>
        <p:blipFill rotWithShape="1">
          <a:blip r:embed="rId13">
            <a:alphaModFix/>
          </a:blip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7;p13"/>
          <p:cNvSpPr txBox="1">
            <a:spLocks noGrp="1"/>
          </p:cNvSpPr>
          <p:nvPr>
            <p:ph type="ctrTitle"/>
          </p:nvPr>
        </p:nvSpPr>
        <p:spPr>
          <a:xfrm>
            <a:off x="790422" y="1215399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Development of a Digital Mental Health and Psychological Support System for Students in Higher Education</a:t>
            </a:r>
            <a:br>
              <a:rPr lang="en-US" sz="2400" b="0" dirty="0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87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CSE_08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88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Mr Jerrin Joe Francis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4194304" name="Google Shape;89;p13"/>
          <p:cNvGraphicFramePr>
            <a:graphicFrameLocks/>
          </p:cNvGraphicFramePr>
          <p:nvPr/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20221CSE0372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20221CSE0442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20221CSE0440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Varun Bantia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Prathyusha K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u="none" strike="noStrike" cap="none" dirty="0"/>
                        <a:t>Venkatashiva Reddy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8589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17365D"/>
              </a:buClr>
              <a:buSzPct val="100000"/>
            </a:pPr>
            <a:r>
              <a:rPr lang="en-IN" sz="1800" dirty="0"/>
              <a:t>CSE7302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048590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dirty="0"/>
              <a:t>Dr. Asif Mohammed and Dr. Blessed Prince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dirty="0"/>
              <a:t>Dr. </a:t>
            </a:r>
            <a:r>
              <a:rPr lang="en-IN" sz="1800" dirty="0" err="1"/>
              <a:t>Jayavadivel</a:t>
            </a:r>
            <a:r>
              <a:rPr lang="en-IN" sz="1800" dirty="0"/>
              <a:t> Ravi and </a:t>
            </a:r>
            <a:r>
              <a:rPr lang="en-IN" sz="1800" dirty="0" err="1"/>
              <a:t>Mr.Muthuraju</a:t>
            </a:r>
            <a:r>
              <a:rPr lang="en-IN" sz="1800" dirty="0"/>
              <a:t> V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83782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99" name="Google Shape;97;p14"/>
          <p:cNvSpPr txBox="1">
            <a:spLocks noGrp="1"/>
          </p:cNvSpPr>
          <p:nvPr>
            <p:ph type="body" idx="1"/>
          </p:nvPr>
        </p:nvSpPr>
        <p:spPr>
          <a:xfrm>
            <a:off x="139130" y="977474"/>
            <a:ext cx="11766358" cy="513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1447" lnSpcReduction="20000"/>
          </a:bodyPr>
          <a:lstStyle/>
          <a:p>
            <a:pPr marL="76200" indent="0">
              <a:buNone/>
            </a:pPr>
            <a:r>
              <a:rPr lang="en-US" sz="4800" dirty="0"/>
              <a:t>The increasing prevalence of mental health concerns among university students highlights the need for accessible, confidential, and stigma-free support systems. Traditional counseling services often face limitations such as delayed availability, social stigma, and resource constraints, which can prevent timely intervention. This project proposes an </a:t>
            </a:r>
            <a:r>
              <a:rPr lang="en-US" sz="4800" b="1" dirty="0"/>
              <a:t>Android-based AI-powered mental health chatbot</a:t>
            </a:r>
            <a:r>
              <a:rPr lang="en-US" sz="4800" dirty="0"/>
              <a:t> designed to provide early emotional support and guidance for students. The application supports both </a:t>
            </a:r>
            <a:r>
              <a:rPr lang="en-US" sz="4800" b="1" dirty="0"/>
              <a:t>anonymous and authenticated login</a:t>
            </a:r>
            <a:r>
              <a:rPr lang="en-US" sz="4800" dirty="0"/>
              <a:t>, allowing users to seek help without identity disclosure. User interactions are analyzed through a severity-aware conversational framework to identify varying levels of psychological distress and respond appropriately.</a:t>
            </a:r>
          </a:p>
          <a:p>
            <a:pPr marL="76200" indent="0">
              <a:buNone/>
            </a:pPr>
            <a:r>
              <a:rPr lang="en-US" sz="4800" dirty="0"/>
              <a:t>The system offers </a:t>
            </a:r>
            <a:r>
              <a:rPr lang="en-US" sz="4800" b="1" dirty="0"/>
              <a:t>AI-guided first-aid support</a:t>
            </a:r>
            <a:r>
              <a:rPr lang="en-US" sz="4800" dirty="0"/>
              <a:t> through coping strategies and empathetic conversations, along with a </a:t>
            </a:r>
            <a:r>
              <a:rPr lang="en-US" sz="4800" b="1" dirty="0"/>
              <a:t>confidential booking module</a:t>
            </a:r>
            <a:r>
              <a:rPr lang="en-US" sz="4800" dirty="0"/>
              <a:t> for accessing on-campus counselors or mental health helplines. Additionally, the application includes a </a:t>
            </a:r>
            <a:r>
              <a:rPr lang="en-US" sz="4800" b="1" dirty="0"/>
              <a:t>psychoeducational resource hub</a:t>
            </a:r>
            <a:r>
              <a:rPr lang="en-US" sz="4800" dirty="0"/>
              <a:t> featuring mental wellness materials and a </a:t>
            </a:r>
            <a:r>
              <a:rPr lang="en-US" sz="4800" b="1" dirty="0"/>
              <a:t>moderated peer support platform</a:t>
            </a:r>
            <a:r>
              <a:rPr lang="en-US" sz="4800" dirty="0"/>
              <a:t> to encourage safe community interaction. Built with strong ethical safeguards such as privacy preservation, mandatory disclaimers, and non-clinical response constraints, the proposed solution aims to complement existing mental health services in educational institutions by improving accessibility, reducing stigma, and enabling early intervention.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altLang="en-US" sz="4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9E5FB6-757D-672E-9297-741D0A9E8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42" y="847389"/>
            <a:ext cx="1180431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develop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safe, confidential, and easy-to-use digital mental health support system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students in higher education, allowing them to identify and monitor their mental well-being through simple self-assessment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mental wellness support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offering self-help resources, practical coping strategies, and guided wellness activities, while also enabling timely access to professional counseling through digital referrals and appointments.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encourage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mental health awareness and early help-seeking behavior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among students, while allowing educational institutions to understand overall mental health trends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anonymous and privacy-preserving insights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student support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52400" algn="just">
              <a:lnSpc>
                <a:spcPct val="200000"/>
              </a:lnSpc>
            </a:pPr>
            <a:r>
              <a:rPr lang="en-IN" dirty="0"/>
              <a:t>Existing Methods and Drawbacks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C2A0F-51E0-5053-65C9-A17C91D67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96" y="872467"/>
            <a:ext cx="11813328" cy="3214901"/>
          </a:xfrm>
        </p:spPr>
        <p:txBody>
          <a:bodyPr>
            <a:normAutofit fontScale="25000" lnSpcReduction="20000"/>
          </a:bodyPr>
          <a:lstStyle/>
          <a:p>
            <a:pPr marL="76200" indent="0">
              <a:buNone/>
            </a:pPr>
            <a:r>
              <a:rPr lang="en-US" sz="7200" b="1" dirty="0"/>
              <a:t>Existing Methods</a:t>
            </a:r>
          </a:p>
          <a:p>
            <a:r>
              <a:rPr lang="en-US" sz="7200" dirty="0"/>
              <a:t> </a:t>
            </a:r>
            <a:r>
              <a:rPr lang="en-US" sz="7200" b="1" dirty="0"/>
              <a:t>University Counseling Services</a:t>
            </a:r>
            <a:br>
              <a:rPr lang="en-US" sz="7200" dirty="0"/>
            </a:br>
            <a:r>
              <a:rPr lang="en-US" sz="7200" dirty="0"/>
              <a:t>– On-campus psychologists and wellness centers</a:t>
            </a:r>
            <a:br>
              <a:rPr lang="en-US" sz="7200" dirty="0"/>
            </a:br>
            <a:r>
              <a:rPr lang="en-US" sz="7200" dirty="0"/>
              <a:t>– </a:t>
            </a:r>
            <a:r>
              <a:rPr lang="en-US" sz="7200" i="1" dirty="0"/>
              <a:t>Examples:</a:t>
            </a:r>
            <a:r>
              <a:rPr lang="en-US" sz="7200" dirty="0"/>
              <a:t> University Counseling Centers, Student Wellness Cells</a:t>
            </a:r>
            <a:br>
              <a:rPr lang="en-US" sz="7200" dirty="0"/>
            </a:br>
            <a:r>
              <a:rPr lang="en-US" sz="7200" dirty="0"/>
              <a:t>– Limited working hours and long waiting times</a:t>
            </a:r>
          </a:p>
          <a:p>
            <a:r>
              <a:rPr lang="en-US" sz="7200" dirty="0"/>
              <a:t> </a:t>
            </a:r>
            <a:r>
              <a:rPr lang="en-US" sz="7200" b="1" dirty="0"/>
              <a:t>Mental Health Mobile Applications</a:t>
            </a:r>
            <a:br>
              <a:rPr lang="en-US" sz="7200" dirty="0"/>
            </a:br>
            <a:r>
              <a:rPr lang="en-US" sz="7200" dirty="0"/>
              <a:t>– Meditation, mood tracking, and self-help apps</a:t>
            </a:r>
            <a:br>
              <a:rPr lang="en-US" sz="7200" dirty="0"/>
            </a:br>
            <a:r>
              <a:rPr lang="en-US" sz="7200" dirty="0"/>
              <a:t>– </a:t>
            </a:r>
            <a:r>
              <a:rPr lang="en-US" sz="7200" i="1" dirty="0"/>
              <a:t>Examples:</a:t>
            </a:r>
            <a:r>
              <a:rPr lang="en-US" sz="7200" dirty="0"/>
              <a:t> Headspace, Calm, </a:t>
            </a:r>
            <a:r>
              <a:rPr lang="en-US" sz="7200" dirty="0" err="1"/>
              <a:t>Wysa</a:t>
            </a:r>
            <a:r>
              <a:rPr lang="en-US" sz="7200" dirty="0"/>
              <a:t>, </a:t>
            </a:r>
            <a:r>
              <a:rPr lang="en-US" sz="7200" dirty="0" err="1"/>
              <a:t>Youper</a:t>
            </a:r>
            <a:br>
              <a:rPr lang="en-US" sz="7200" dirty="0"/>
            </a:br>
            <a:r>
              <a:rPr lang="en-US" sz="7200" dirty="0"/>
              <a:t>– Mostly static content with limited personalization</a:t>
            </a:r>
          </a:p>
          <a:p>
            <a:r>
              <a:rPr lang="en-US" sz="7200" dirty="0"/>
              <a:t> </a:t>
            </a:r>
            <a:r>
              <a:rPr lang="en-US" sz="7200" b="1" dirty="0"/>
              <a:t>Online Forums and Peer Support Groups</a:t>
            </a:r>
            <a:br>
              <a:rPr lang="en-US" sz="7200" dirty="0"/>
            </a:br>
            <a:r>
              <a:rPr lang="en-US" sz="7200" dirty="0"/>
              <a:t>– Anonymous discussion platforms</a:t>
            </a:r>
            <a:br>
              <a:rPr lang="en-US" sz="7200" dirty="0"/>
            </a:br>
            <a:r>
              <a:rPr lang="en-US" sz="7200" dirty="0"/>
              <a:t>– </a:t>
            </a:r>
            <a:r>
              <a:rPr lang="en-US" sz="7200" i="1" dirty="0"/>
              <a:t>Examples:</a:t>
            </a:r>
            <a:r>
              <a:rPr lang="en-US" sz="7200" dirty="0"/>
              <a:t> Reddit (r/</a:t>
            </a:r>
            <a:r>
              <a:rPr lang="en-US" sz="7200" dirty="0" err="1"/>
              <a:t>SuicideWatch</a:t>
            </a:r>
            <a:r>
              <a:rPr lang="en-US" sz="7200" dirty="0"/>
              <a:t>, r/depression), 7 Cups</a:t>
            </a:r>
            <a:br>
              <a:rPr lang="en-US" sz="7200" dirty="0"/>
            </a:br>
            <a:r>
              <a:rPr lang="en-US" sz="7200" dirty="0"/>
              <a:t>– Often unmoderated and unsafe</a:t>
            </a:r>
          </a:p>
          <a:p>
            <a:pPr marL="558800" lvl="1" indent="0">
              <a:buNone/>
            </a:pPr>
            <a:endParaRPr lang="en-US" dirty="0"/>
          </a:p>
          <a:p>
            <a:pPr marL="76200" indent="0">
              <a:buNone/>
            </a:pPr>
            <a:endParaRPr lang="en-IN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8FAA7A9-AAD8-52B5-355E-E4079873D84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7296" y="3625488"/>
            <a:ext cx="1025324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IN" sz="2000" b="1" dirty="0"/>
          </a:p>
          <a:p>
            <a:r>
              <a:rPr lang="en-US" sz="2000" b="1" dirty="0"/>
              <a:t>Drawbacks of Existing Systems</a:t>
            </a:r>
          </a:p>
          <a:p>
            <a:r>
              <a:rPr lang="en-US" sz="2000" dirty="0"/>
              <a:t>• Lack of </a:t>
            </a:r>
            <a:r>
              <a:rPr lang="en-US" sz="2000" b="1" dirty="0"/>
              <a:t>anonymity</a:t>
            </a:r>
            <a:r>
              <a:rPr lang="en-US" sz="2000" dirty="0"/>
              <a:t>, leading to hesitation in seeking help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Stigma and fear of judgment</a:t>
            </a:r>
            <a:r>
              <a:rPr lang="en-US" sz="2000" dirty="0"/>
              <a:t> among students</a:t>
            </a:r>
            <a:br>
              <a:rPr lang="en-US" sz="2000" dirty="0"/>
            </a:br>
            <a:r>
              <a:rPr lang="en-US" sz="2000" dirty="0"/>
              <a:t>• No </a:t>
            </a:r>
            <a:r>
              <a:rPr lang="en-US" sz="2000" b="1" dirty="0"/>
              <a:t>real-time or 24/7 support</a:t>
            </a:r>
            <a:br>
              <a:rPr lang="en-US" sz="2000" dirty="0"/>
            </a:br>
            <a:r>
              <a:rPr lang="en-US" sz="2000" dirty="0"/>
              <a:t>• Poor </a:t>
            </a:r>
            <a:r>
              <a:rPr lang="en-US" sz="2000" b="1" dirty="0"/>
              <a:t>early detection of severe mental health risks</a:t>
            </a:r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/>
              <a:t>Limited personalized guidance</a:t>
            </a:r>
            <a:br>
              <a:rPr lang="en-US" sz="2000" dirty="0"/>
            </a:br>
            <a:r>
              <a:rPr lang="en-US" sz="2000" dirty="0"/>
              <a:t>• Risk of </a:t>
            </a:r>
            <a:r>
              <a:rPr lang="en-US" sz="2000" b="1" dirty="0"/>
              <a:t>misinformation</a:t>
            </a:r>
            <a:r>
              <a:rPr lang="en-US" sz="2000" dirty="0"/>
              <a:t> in peer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/>
              <a:t>Proposed Method &amp; Feasibility Study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619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54643" y="972273"/>
            <a:ext cx="11226157" cy="51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76200" indent="0">
              <a:buNone/>
            </a:pPr>
            <a:r>
              <a:rPr lang="en-US" b="1" dirty="0"/>
              <a:t>Proposed Method</a:t>
            </a:r>
          </a:p>
          <a:p>
            <a:r>
              <a:rPr lang="en-US" dirty="0"/>
              <a:t>Android-based </a:t>
            </a:r>
            <a:r>
              <a:rPr lang="en-US" b="1" dirty="0"/>
              <a:t>AI mental health chatbot</a:t>
            </a:r>
            <a:r>
              <a:rPr lang="en-US" dirty="0"/>
              <a:t> for students</a:t>
            </a:r>
          </a:p>
          <a:p>
            <a:r>
              <a:rPr lang="en-US" dirty="0"/>
              <a:t>Supports </a:t>
            </a:r>
            <a:r>
              <a:rPr lang="en-US" b="1" dirty="0"/>
              <a:t>anonymous and secure login</a:t>
            </a:r>
            <a:endParaRPr lang="en-US" dirty="0"/>
          </a:p>
          <a:p>
            <a:r>
              <a:rPr lang="en-US" b="1" dirty="0"/>
              <a:t>Severity-based analysis</a:t>
            </a:r>
            <a:r>
              <a:rPr lang="en-US" dirty="0"/>
              <a:t> of user messages</a:t>
            </a:r>
          </a:p>
          <a:p>
            <a:r>
              <a:rPr lang="en-US" dirty="0"/>
              <a:t>Provides coping strategies, self-help resources, and crisis guidance</a:t>
            </a:r>
          </a:p>
          <a:p>
            <a:r>
              <a:rPr lang="en-US" dirty="0"/>
              <a:t>Enables </a:t>
            </a:r>
            <a:r>
              <a:rPr lang="en-US" b="1" dirty="0"/>
              <a:t>confidential counselor/helpline booking</a:t>
            </a:r>
            <a:endParaRPr lang="en-US" dirty="0"/>
          </a:p>
          <a:p>
            <a:r>
              <a:rPr lang="en-US" dirty="0"/>
              <a:t>Includes psychoeducational content and moderated peer support</a:t>
            </a:r>
          </a:p>
          <a:p>
            <a:pPr marL="76200" indent="0">
              <a:buNone/>
            </a:pPr>
            <a:r>
              <a:rPr lang="en-US" b="1" dirty="0"/>
              <a:t>Feasibility Study</a:t>
            </a:r>
          </a:p>
          <a:p>
            <a:r>
              <a:rPr lang="en-US" b="1" dirty="0"/>
              <a:t>Technical:</a:t>
            </a:r>
            <a:r>
              <a:rPr lang="en-US" dirty="0"/>
              <a:t> Uses Android Studio and scalable AI technologies</a:t>
            </a:r>
          </a:p>
          <a:p>
            <a:r>
              <a:rPr lang="en-US" b="1" dirty="0"/>
              <a:t>Operational:</a:t>
            </a:r>
            <a:r>
              <a:rPr lang="en-US" dirty="0"/>
              <a:t> Simple UI with 24/7 accessibility</a:t>
            </a:r>
          </a:p>
          <a:p>
            <a:r>
              <a:rPr lang="en-US" b="1" dirty="0"/>
              <a:t>Economic:</a:t>
            </a:r>
            <a:r>
              <a:rPr lang="en-US" dirty="0"/>
              <a:t> Low-cost, reduces burden on counseling services</a:t>
            </a:r>
          </a:p>
          <a:p>
            <a:r>
              <a:rPr lang="en-US" b="1" dirty="0"/>
              <a:t>Ethical:</a:t>
            </a:r>
            <a:r>
              <a:rPr lang="en-US" dirty="0"/>
              <a:t> Privacy-focused, anonymous use, safe escalation mechanisms</a:t>
            </a:r>
          </a:p>
          <a:p>
            <a:pPr marL="7620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/>
              <a:t>Architecture Diagram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369F2-2F21-3798-3B72-AAE290F01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015" y="1065914"/>
            <a:ext cx="9737969" cy="5116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03A8B9-03F5-2248-AF5D-84257B3A3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73" y="981659"/>
            <a:ext cx="1183085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User Authentication Module</a:t>
            </a:r>
            <a:endParaRPr lang="en-US" sz="1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Login, Sign Up, and Anonymous Access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Ensures privacy and stigma-free usage</a:t>
            </a:r>
          </a:p>
          <a:p>
            <a:r>
              <a:rPr lang="en-US" sz="1800" b="1" dirty="0"/>
              <a:t>AI Chatbot Module</a:t>
            </a:r>
            <a:endParaRPr lang="en-US" sz="1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Interactive mental health conversations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Severity-based response and guidance</a:t>
            </a:r>
          </a:p>
          <a:p>
            <a:r>
              <a:rPr lang="en-US" sz="1800" b="1" dirty="0"/>
              <a:t>Risk Assessment Module</a:t>
            </a:r>
            <a:endParaRPr lang="en-US" sz="1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Analyzes user inputs to detect distress levels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Triggers appropriate support or escalation</a:t>
            </a:r>
          </a:p>
          <a:p>
            <a:r>
              <a:rPr lang="en-US" sz="1800" b="1" dirty="0"/>
              <a:t>Resource Management Module</a:t>
            </a:r>
            <a:endParaRPr lang="en-US" sz="1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Provides self-help content (audio, video, guides)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Supports offline access where required</a:t>
            </a:r>
          </a:p>
          <a:p>
            <a:r>
              <a:rPr lang="en-US" sz="1800" b="1" dirty="0"/>
              <a:t>Counseling &amp; Helpline Module</a:t>
            </a:r>
            <a:endParaRPr lang="en-US" sz="1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Confidential appointment booking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Quick access to emergency support</a:t>
            </a:r>
          </a:p>
          <a:p>
            <a:r>
              <a:rPr lang="en-US" sz="1800" b="1" dirty="0"/>
              <a:t>Peer Support Module</a:t>
            </a:r>
            <a:endParaRPr lang="en-US" sz="1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Moderated student-to-student interaction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Safe and supportive community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D3E2-9F94-444C-E151-66877C67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and Software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6723C-6A73-D255-D34C-34713B9B4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471" y="1143001"/>
            <a:ext cx="11330329" cy="4953000"/>
          </a:xfrm>
        </p:spPr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IN" b="1" dirty="0"/>
              <a:t>Hardware Requirements</a:t>
            </a:r>
          </a:p>
          <a:p>
            <a:r>
              <a:rPr lang="en-IN" dirty="0"/>
              <a:t>Android Smartphone</a:t>
            </a:r>
          </a:p>
          <a:p>
            <a:r>
              <a:rPr lang="en-IN" dirty="0"/>
              <a:t>Minimum </a:t>
            </a:r>
            <a:r>
              <a:rPr lang="en-IN" b="1" dirty="0"/>
              <a:t>4 GB RAM</a:t>
            </a:r>
            <a:endParaRPr lang="en-IN" dirty="0"/>
          </a:p>
          <a:p>
            <a:r>
              <a:rPr lang="en-IN" dirty="0"/>
              <a:t>Stable Internet Connection</a:t>
            </a:r>
          </a:p>
          <a:p>
            <a:r>
              <a:rPr lang="en-IN" dirty="0"/>
              <a:t>Standard Server or Cloud Infrastructure</a:t>
            </a:r>
            <a:br>
              <a:rPr lang="en-IN" dirty="0"/>
            </a:br>
            <a:endParaRPr lang="en-IN" dirty="0"/>
          </a:p>
          <a:p>
            <a:pPr marL="76200" indent="0">
              <a:buNone/>
            </a:pPr>
            <a:r>
              <a:rPr lang="en-IN" b="1" dirty="0"/>
              <a:t>Software Requirements</a:t>
            </a:r>
          </a:p>
          <a:p>
            <a:r>
              <a:rPr lang="en-IN" b="1" dirty="0"/>
              <a:t>Android Studio</a:t>
            </a:r>
            <a:r>
              <a:rPr lang="en-IN" dirty="0"/>
              <a:t> (App Development)</a:t>
            </a:r>
          </a:p>
          <a:p>
            <a:r>
              <a:rPr lang="en-IN" b="1" dirty="0"/>
              <a:t>Android OS (Version 8.0 or above)</a:t>
            </a:r>
            <a:endParaRPr lang="en-IN" dirty="0"/>
          </a:p>
          <a:p>
            <a:r>
              <a:rPr lang="en-IN" b="1" dirty="0"/>
              <a:t>Java / Kotlin</a:t>
            </a:r>
            <a:r>
              <a:rPr lang="en-IN" dirty="0"/>
              <a:t> (Application Logic)</a:t>
            </a:r>
          </a:p>
          <a:p>
            <a:r>
              <a:rPr lang="en-IN" b="1" dirty="0"/>
              <a:t>XML</a:t>
            </a:r>
            <a:r>
              <a:rPr lang="en-IN" dirty="0"/>
              <a:t> (User Interface Design)</a:t>
            </a:r>
          </a:p>
          <a:p>
            <a:r>
              <a:rPr lang="en-IN" b="1" dirty="0"/>
              <a:t>Backend Framework</a:t>
            </a:r>
            <a:r>
              <a:rPr lang="en-IN" dirty="0"/>
              <a:t> (Flask / Node.js)</a:t>
            </a:r>
          </a:p>
          <a:p>
            <a:r>
              <a:rPr lang="en-IN" b="1" dirty="0"/>
              <a:t>Database</a:t>
            </a:r>
            <a:r>
              <a:rPr lang="en-IN" dirty="0"/>
              <a:t> (Firebase / MongoDB)</a:t>
            </a:r>
          </a:p>
          <a:p>
            <a:r>
              <a:rPr lang="en-IN" b="1" dirty="0"/>
              <a:t>AI / NLP Models</a:t>
            </a:r>
            <a:r>
              <a:rPr lang="en-IN" dirty="0"/>
              <a:t> for text analysis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018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9715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142995"/>
            <a:ext cx="10351008" cy="45720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58E366-D6F0-FEB1-7E51-7C4D643AC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47" y="1150725"/>
            <a:ext cx="1164413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[1] World Health Organization, “Mental health of students in higher education,” WHO Publications, 2021.</a:t>
            </a:r>
          </a:p>
          <a:p>
            <a:r>
              <a:rPr lang="en-US" sz="2400" dirty="0"/>
              <a:t>[2] R. P. Auerbach et al., “Mental disorders among college students in the World Health Organization World Mental Health Surveys,” </a:t>
            </a:r>
            <a:r>
              <a:rPr lang="en-US" sz="2400" i="1" dirty="0"/>
              <a:t>Psychological Medicine</a:t>
            </a:r>
            <a:r>
              <a:rPr lang="en-US" sz="2400" dirty="0"/>
              <a:t>, 2016.</a:t>
            </a:r>
          </a:p>
          <a:p>
            <a:r>
              <a:rPr lang="en-US" sz="2400" dirty="0"/>
              <a:t>[3] J. Firth et al., “The efficacy of smartphone-based mental health interventions for depressive symptoms,” </a:t>
            </a:r>
            <a:r>
              <a:rPr lang="en-US" sz="2400" i="1" dirty="0"/>
              <a:t>World Psychiatry</a:t>
            </a:r>
            <a:r>
              <a:rPr lang="en-US" sz="2400" dirty="0"/>
              <a:t>, 2017.</a:t>
            </a:r>
          </a:p>
          <a:p>
            <a:r>
              <a:rPr lang="en-US" sz="2400" dirty="0"/>
              <a:t>[4] B. Inkster, S. Sarda, and V. Subramanian, “An empathy-driven, conversational artificial intelligence agent for digital mental health,” </a:t>
            </a:r>
            <a:r>
              <a:rPr lang="en-US" sz="2400" i="1" dirty="0"/>
              <a:t>JMIR Mental Health</a:t>
            </a:r>
            <a:r>
              <a:rPr lang="en-US" sz="2400" dirty="0"/>
              <a:t>, 2018.</a:t>
            </a:r>
          </a:p>
          <a:p>
            <a:r>
              <a:rPr lang="en-US" sz="2400" dirty="0"/>
              <a:t>[5] K. Nikhileswar, L. </a:t>
            </a:r>
            <a:r>
              <a:rPr lang="en-US" sz="2400" dirty="0" err="1"/>
              <a:t>Sphoorthi</a:t>
            </a:r>
            <a:r>
              <a:rPr lang="en-US" sz="2400" dirty="0"/>
              <a:t>, D. Vishal, and S. </a:t>
            </a:r>
            <a:r>
              <a:rPr lang="en-US" sz="2400" dirty="0" err="1"/>
              <a:t>Fathimabi</a:t>
            </a:r>
            <a:r>
              <a:rPr lang="en-US" sz="2400" dirty="0"/>
              <a:t>, “Suicide ideation detection in social media forums,” </a:t>
            </a:r>
            <a:r>
              <a:rPr lang="en-US" sz="2400" i="1" dirty="0"/>
              <a:t>IEEE International Conference on Smart Electronics and Communication (ICOSEC)</a:t>
            </a:r>
            <a:r>
              <a:rPr lang="en-US" sz="2400" dirty="0"/>
              <a:t>, 2021.</a:t>
            </a:r>
          </a:p>
          <a:p>
            <a:r>
              <a:rPr lang="en-US" sz="2400" dirty="0"/>
              <a:t>[6] P. Olla et al., “Deploying a mental health chatbot in higher education: The development and evaluation of Luna,” </a:t>
            </a:r>
            <a:r>
              <a:rPr lang="en-US" sz="2400" i="1" dirty="0"/>
              <a:t>Computers</a:t>
            </a:r>
            <a:r>
              <a:rPr lang="en-US" sz="2400" dirty="0"/>
              <a:t>, 2025.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1022</Words>
  <Application>Microsoft Office PowerPoint</Application>
  <PresentationFormat>Widescreen</PresentationFormat>
  <Paragraphs>91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Cambria</vt:lpstr>
      <vt:lpstr>Verdana</vt:lpstr>
      <vt:lpstr>Bioinformatics</vt:lpstr>
      <vt:lpstr>Development of a Digital Mental Health and Psychological Support System for Students in Higher Education </vt:lpstr>
      <vt:lpstr>Abstract</vt:lpstr>
      <vt:lpstr>Objectives</vt:lpstr>
      <vt:lpstr>Existing Methods and Drawbacks</vt:lpstr>
      <vt:lpstr>Proposed Method &amp; Feasibility Study</vt:lpstr>
      <vt:lpstr>Architecture Diagram</vt:lpstr>
      <vt:lpstr>Modules</vt:lpstr>
      <vt:lpstr>Hardware and Software Details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Varun Bantia</cp:lastModifiedBy>
  <cp:revision>3</cp:revision>
  <dcterms:created xsi:type="dcterms:W3CDTF">2025-08-12T16:46:22Z</dcterms:created>
  <dcterms:modified xsi:type="dcterms:W3CDTF">2026-02-04T07:00:59Z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1a0a1e6851d74b63a855fc9bb534e9a8</vt:lpwstr>
  </property>
</Properties>
</file>