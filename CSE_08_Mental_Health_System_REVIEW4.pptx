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2" r:id="rId3"/>
    <p:sldId id="263" r:id="rId4"/>
    <p:sldId id="275" r:id="rId5"/>
    <p:sldId id="271" r:id="rId6"/>
    <p:sldId id="272" r:id="rId7"/>
    <p:sldId id="273" r:id="rId8"/>
    <p:sldId id="274" r:id="rId9"/>
    <p:sldId id="276" r:id="rId10"/>
    <p:sldId id="277" r:id="rId11"/>
    <p:sldId id="264" r:id="rId12"/>
    <p:sldId id="265" r:id="rId13"/>
    <p:sldId id="27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E5AAD2-8AAC-4B08-93F4-043D64D9CBE4}" v="13" dt="2026-04-05T17:10:24.032"/>
  </p1510:revLst>
</p1510:revInfo>
</file>

<file path=ppt/tableStyles.xml><?xml version="1.0" encoding="utf-8"?>
<a:tblStyleLst xmlns:a="http://schemas.openxmlformats.org/drawingml/2006/main" def="{5C22544A-7EE6-4342-B048-85BDC9FD1C3A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Bantia" userId="74518b88c48bb1f6" providerId="LiveId" clId="{A77A4FC6-3C34-4AEA-B256-715E718BB2A1}"/>
    <pc:docChg chg="undo custSel addSld delSld modSld">
      <pc:chgData name="Varun Bantia" userId="74518b88c48bb1f6" providerId="LiveId" clId="{A77A4FC6-3C34-4AEA-B256-715E718BB2A1}" dt="2026-04-08T03:47:23.078" v="760" actId="20577"/>
      <pc:docMkLst>
        <pc:docMk/>
      </pc:docMkLst>
      <pc:sldChg chg="modSp mod">
        <pc:chgData name="Varun Bantia" userId="74518b88c48bb1f6" providerId="LiveId" clId="{A77A4FC6-3C34-4AEA-B256-715E718BB2A1}" dt="2026-04-08T03:47:23.078" v="760" actId="20577"/>
        <pc:sldMkLst>
          <pc:docMk/>
          <pc:sldMk cId="0" sldId="257"/>
        </pc:sldMkLst>
        <pc:spChg chg="mod">
          <ac:chgData name="Varun Bantia" userId="74518b88c48bb1f6" providerId="LiveId" clId="{A77A4FC6-3C34-4AEA-B256-715E718BB2A1}" dt="2026-04-08T03:47:23.078" v="760" actId="20577"/>
          <ac:spMkLst>
            <pc:docMk/>
            <pc:sldMk cId="0" sldId="257"/>
            <ac:spMk id="1048589" creationId="{00000000-0000-0000-0000-000000000000}"/>
          </ac:spMkLst>
        </pc:spChg>
      </pc:sldChg>
      <pc:sldChg chg="addSp delSp modSp mod">
        <pc:chgData name="Varun Bantia" userId="74518b88c48bb1f6" providerId="LiveId" clId="{A77A4FC6-3C34-4AEA-B256-715E718BB2A1}" dt="2026-04-05T16:15:12.882" v="421" actId="255"/>
        <pc:sldMkLst>
          <pc:docMk/>
          <pc:sldMk cId="0" sldId="262"/>
        </pc:sldMkLst>
        <pc:spChg chg="add mod">
          <ac:chgData name="Varun Bantia" userId="74518b88c48bb1f6" providerId="LiveId" clId="{A77A4FC6-3C34-4AEA-B256-715E718BB2A1}" dt="2026-04-05T16:15:12.882" v="421" actId="255"/>
          <ac:spMkLst>
            <pc:docMk/>
            <pc:sldMk cId="0" sldId="262"/>
            <ac:spMk id="3" creationId="{172A12CD-E3E5-0825-0D42-6924C8497EC4}"/>
          </ac:spMkLst>
        </pc:spChg>
        <pc:spChg chg="mod">
          <ac:chgData name="Varun Bantia" userId="74518b88c48bb1f6" providerId="LiveId" clId="{A77A4FC6-3C34-4AEA-B256-715E718BB2A1}" dt="2026-04-05T16:09:03.432" v="335" actId="1076"/>
          <ac:spMkLst>
            <pc:docMk/>
            <pc:sldMk cId="0" sldId="262"/>
            <ac:spMk id="1048615" creationId="{00000000-0000-0000-0000-000000000000}"/>
          </ac:spMkLst>
        </pc:spChg>
      </pc:sldChg>
      <pc:sldChg chg="addSp delSp modSp mod">
        <pc:chgData name="Varun Bantia" userId="74518b88c48bb1f6" providerId="LiveId" clId="{A77A4FC6-3C34-4AEA-B256-715E718BB2A1}" dt="2026-04-05T16:25:59.461" v="524" actId="1076"/>
        <pc:sldMkLst>
          <pc:docMk/>
          <pc:sldMk cId="0" sldId="263"/>
        </pc:sldMkLst>
        <pc:spChg chg="add mod">
          <ac:chgData name="Varun Bantia" userId="74518b88c48bb1f6" providerId="LiveId" clId="{A77A4FC6-3C34-4AEA-B256-715E718BB2A1}" dt="2026-04-05T16:25:09.871" v="514" actId="1076"/>
          <ac:spMkLst>
            <pc:docMk/>
            <pc:sldMk cId="0" sldId="263"/>
            <ac:spMk id="6" creationId="{502723CB-CE30-9F6B-3F5C-C51FF9B23405}"/>
          </ac:spMkLst>
        </pc:spChg>
        <pc:spChg chg="add mod">
          <ac:chgData name="Varun Bantia" userId="74518b88c48bb1f6" providerId="LiveId" clId="{A77A4FC6-3C34-4AEA-B256-715E718BB2A1}" dt="2026-04-05T16:25:38.988" v="520"/>
          <ac:spMkLst>
            <pc:docMk/>
            <pc:sldMk cId="0" sldId="263"/>
            <ac:spMk id="8" creationId="{020770CB-45C1-92CC-342F-3022EA478DB7}"/>
          </ac:spMkLst>
        </pc:spChg>
        <pc:spChg chg="add mod">
          <ac:chgData name="Varun Bantia" userId="74518b88c48bb1f6" providerId="LiveId" clId="{A77A4FC6-3C34-4AEA-B256-715E718BB2A1}" dt="2026-04-05T16:25:59.461" v="524" actId="1076"/>
          <ac:spMkLst>
            <pc:docMk/>
            <pc:sldMk cId="0" sldId="263"/>
            <ac:spMk id="11" creationId="{39B89A43-0B2E-F334-132C-F60D75869BA2}"/>
          </ac:spMkLst>
        </pc:spChg>
      </pc:sldChg>
      <pc:sldChg chg="addSp delSp modSp mod">
        <pc:chgData name="Varun Bantia" userId="74518b88c48bb1f6" providerId="LiveId" clId="{A77A4FC6-3C34-4AEA-B256-715E718BB2A1}" dt="2026-04-05T16:52:14.855" v="624" actId="5793"/>
        <pc:sldMkLst>
          <pc:docMk/>
          <pc:sldMk cId="3789783566" sldId="271"/>
        </pc:sldMkLst>
        <pc:spChg chg="add mod">
          <ac:chgData name="Varun Bantia" userId="74518b88c48bb1f6" providerId="LiveId" clId="{A77A4FC6-3C34-4AEA-B256-715E718BB2A1}" dt="2026-04-05T16:51:31.132" v="617" actId="1076"/>
          <ac:spMkLst>
            <pc:docMk/>
            <pc:sldMk cId="3789783566" sldId="271"/>
            <ac:spMk id="6" creationId="{180113D9-8159-2A88-48F2-52F03C763B3E}"/>
          </ac:spMkLst>
        </pc:spChg>
        <pc:spChg chg="add mod">
          <ac:chgData name="Varun Bantia" userId="74518b88c48bb1f6" providerId="LiveId" clId="{A77A4FC6-3C34-4AEA-B256-715E718BB2A1}" dt="2026-04-05T16:51:24.831" v="616" actId="5793"/>
          <ac:spMkLst>
            <pc:docMk/>
            <pc:sldMk cId="3789783566" sldId="271"/>
            <ac:spMk id="9" creationId="{6185F5F0-934E-4D8B-7E3B-A3876011C417}"/>
          </ac:spMkLst>
        </pc:spChg>
        <pc:spChg chg="add mod">
          <ac:chgData name="Varun Bantia" userId="74518b88c48bb1f6" providerId="LiveId" clId="{A77A4FC6-3C34-4AEA-B256-715E718BB2A1}" dt="2026-04-05T16:52:14.855" v="624" actId="5793"/>
          <ac:spMkLst>
            <pc:docMk/>
            <pc:sldMk cId="3789783566" sldId="271"/>
            <ac:spMk id="11" creationId="{BBA62D1D-59E0-4B5F-1692-C5383FA9472F}"/>
          </ac:spMkLst>
        </pc:spChg>
        <pc:spChg chg="mod">
          <ac:chgData name="Varun Bantia" userId="74518b88c48bb1f6" providerId="LiveId" clId="{A77A4FC6-3C34-4AEA-B256-715E718BB2A1}" dt="2026-04-05T16:27:26.452" v="533" actId="1076"/>
          <ac:spMkLst>
            <pc:docMk/>
            <pc:sldMk cId="3789783566" sldId="271"/>
            <ac:spMk id="1048618" creationId="{DABA1B3B-122B-F766-9653-9215E38AC47C}"/>
          </ac:spMkLst>
        </pc:spChg>
      </pc:sldChg>
      <pc:sldChg chg="addSp delSp modSp mod">
        <pc:chgData name="Varun Bantia" userId="74518b88c48bb1f6" providerId="LiveId" clId="{A77A4FC6-3C34-4AEA-B256-715E718BB2A1}" dt="2026-04-05T16:53:45.545" v="639" actId="5793"/>
        <pc:sldMkLst>
          <pc:docMk/>
          <pc:sldMk cId="3452497024" sldId="272"/>
        </pc:sldMkLst>
        <pc:spChg chg="add mod">
          <ac:chgData name="Varun Bantia" userId="74518b88c48bb1f6" providerId="LiveId" clId="{A77A4FC6-3C34-4AEA-B256-715E718BB2A1}" dt="2026-04-05T16:53:27.557" v="632" actId="207"/>
          <ac:spMkLst>
            <pc:docMk/>
            <pc:sldMk cId="3452497024" sldId="272"/>
            <ac:spMk id="6" creationId="{C9B7DBEA-A5B7-5952-A427-94A67423AC0A}"/>
          </ac:spMkLst>
        </pc:spChg>
        <pc:spChg chg="add mod">
          <ac:chgData name="Varun Bantia" userId="74518b88c48bb1f6" providerId="LiveId" clId="{A77A4FC6-3C34-4AEA-B256-715E718BB2A1}" dt="2026-04-05T16:53:45.545" v="639" actId="5793"/>
          <ac:spMkLst>
            <pc:docMk/>
            <pc:sldMk cId="3452497024" sldId="272"/>
            <ac:spMk id="9" creationId="{F7C77B61-A312-6F29-FFFF-5A7A7B8A6068}"/>
          </ac:spMkLst>
        </pc:spChg>
      </pc:sldChg>
      <pc:sldChg chg="addSp delSp modSp add mod">
        <pc:chgData name="Varun Bantia" userId="74518b88c48bb1f6" providerId="LiveId" clId="{A77A4FC6-3C34-4AEA-B256-715E718BB2A1}" dt="2026-04-05T16:55:02.310" v="673" actId="1076"/>
        <pc:sldMkLst>
          <pc:docMk/>
          <pc:sldMk cId="2116017218" sldId="273"/>
        </pc:sldMkLst>
        <pc:spChg chg="add mod">
          <ac:chgData name="Varun Bantia" userId="74518b88c48bb1f6" providerId="LiveId" clId="{A77A4FC6-3C34-4AEA-B256-715E718BB2A1}" dt="2026-04-05T16:54:06.761" v="642" actId="5793"/>
          <ac:spMkLst>
            <pc:docMk/>
            <pc:sldMk cId="2116017218" sldId="273"/>
            <ac:spMk id="9" creationId="{C21C5AB4-4D87-2317-0FA9-F360AE342748}"/>
          </ac:spMkLst>
        </pc:spChg>
        <pc:spChg chg="add mod">
          <ac:chgData name="Varun Bantia" userId="74518b88c48bb1f6" providerId="LiveId" clId="{A77A4FC6-3C34-4AEA-B256-715E718BB2A1}" dt="2026-04-05T16:54:14.083" v="645" actId="5793"/>
          <ac:spMkLst>
            <pc:docMk/>
            <pc:sldMk cId="2116017218" sldId="273"/>
            <ac:spMk id="11" creationId="{2F256A3E-96D8-F31A-27C4-BC55B61ED71D}"/>
          </ac:spMkLst>
        </pc:spChg>
        <pc:spChg chg="add mod">
          <ac:chgData name="Varun Bantia" userId="74518b88c48bb1f6" providerId="LiveId" clId="{A77A4FC6-3C34-4AEA-B256-715E718BB2A1}" dt="2026-04-05T16:55:02.310" v="673" actId="1076"/>
          <ac:spMkLst>
            <pc:docMk/>
            <pc:sldMk cId="2116017218" sldId="273"/>
            <ac:spMk id="13" creationId="{E42BF051-1079-7E41-FE30-DAC7C9BA6B03}"/>
          </ac:spMkLst>
        </pc:spChg>
        <pc:spChg chg="mod">
          <ac:chgData name="Varun Bantia" userId="74518b88c48bb1f6" providerId="LiveId" clId="{A77A4FC6-3C34-4AEA-B256-715E718BB2A1}" dt="2026-04-05T16:47:07.583" v="591" actId="1076"/>
          <ac:spMkLst>
            <pc:docMk/>
            <pc:sldMk cId="2116017218" sldId="273"/>
            <ac:spMk id="1048618" creationId="{5A98DD54-ACFB-CA52-32DE-2EB1F75CC028}"/>
          </ac:spMkLst>
        </pc:spChg>
      </pc:sldChg>
      <pc:sldChg chg="addSp delSp modSp add mod">
        <pc:chgData name="Varun Bantia" userId="74518b88c48bb1f6" providerId="LiveId" clId="{A77A4FC6-3C34-4AEA-B256-715E718BB2A1}" dt="2026-04-05T16:48:50.213" v="606" actId="478"/>
        <pc:sldMkLst>
          <pc:docMk/>
          <pc:sldMk cId="3176967409" sldId="274"/>
        </pc:sldMkLst>
        <pc:spChg chg="add mod">
          <ac:chgData name="Varun Bantia" userId="74518b88c48bb1f6" providerId="LiveId" clId="{A77A4FC6-3C34-4AEA-B256-715E718BB2A1}" dt="2026-04-05T16:48:46.397" v="605" actId="207"/>
          <ac:spMkLst>
            <pc:docMk/>
            <pc:sldMk cId="3176967409" sldId="274"/>
            <ac:spMk id="3" creationId="{30EEA027-B453-E4ED-A848-DFFDA92FF951}"/>
          </ac:spMkLst>
        </pc:spChg>
      </pc:sldChg>
      <pc:sldChg chg="addSp delSp modSp add mod">
        <pc:chgData name="Varun Bantia" userId="74518b88c48bb1f6" providerId="LiveId" clId="{A77A4FC6-3C34-4AEA-B256-715E718BB2A1}" dt="2026-04-06T17:02:45.172" v="758" actId="20577"/>
        <pc:sldMkLst>
          <pc:docMk/>
          <pc:sldMk cId="253941411" sldId="275"/>
        </pc:sldMkLst>
        <pc:spChg chg="add mod">
          <ac:chgData name="Varun Bantia" userId="74518b88c48bb1f6" providerId="LiveId" clId="{A77A4FC6-3C34-4AEA-B256-715E718BB2A1}" dt="2026-04-05T17:07:25.072" v="686" actId="1076"/>
          <ac:spMkLst>
            <pc:docMk/>
            <pc:sldMk cId="253941411" sldId="275"/>
            <ac:spMk id="3" creationId="{B1923037-6D88-76FB-E4F8-1BBD0A37CBE4}"/>
          </ac:spMkLst>
        </pc:spChg>
        <pc:spChg chg="mod">
          <ac:chgData name="Varun Bantia" userId="74518b88c48bb1f6" providerId="LiveId" clId="{A77A4FC6-3C34-4AEA-B256-715E718BB2A1}" dt="2026-04-06T17:02:45.172" v="758" actId="20577"/>
          <ac:spMkLst>
            <pc:docMk/>
            <pc:sldMk cId="253941411" sldId="275"/>
            <ac:spMk id="11" creationId="{E14C30D9-53E0-0E2F-4D4B-56BC5D35F09A}"/>
          </ac:spMkLst>
        </pc:spChg>
      </pc:sldChg>
      <pc:sldChg chg="addSp delSp modSp add mod">
        <pc:chgData name="Varun Bantia" userId="74518b88c48bb1f6" providerId="LiveId" clId="{A77A4FC6-3C34-4AEA-B256-715E718BB2A1}" dt="2026-04-05T17:10:48.659" v="716" actId="1076"/>
        <pc:sldMkLst>
          <pc:docMk/>
          <pc:sldMk cId="2252824350" sldId="276"/>
        </pc:sldMkLst>
        <pc:spChg chg="add mod">
          <ac:chgData name="Varun Bantia" userId="74518b88c48bb1f6" providerId="LiveId" clId="{A77A4FC6-3C34-4AEA-B256-715E718BB2A1}" dt="2026-04-05T17:10:48.659" v="716" actId="1076"/>
          <ac:spMkLst>
            <pc:docMk/>
            <pc:sldMk cId="2252824350" sldId="276"/>
            <ac:spMk id="4" creationId="{D86F3BFC-5316-54AE-DE16-5354FA9F744C}"/>
          </ac:spMkLst>
        </pc:spChg>
        <pc:spChg chg="add mod">
          <ac:chgData name="Varun Bantia" userId="74518b88c48bb1f6" providerId="LiveId" clId="{A77A4FC6-3C34-4AEA-B256-715E718BB2A1}" dt="2026-04-05T17:10:43.801" v="715" actId="1076"/>
          <ac:spMkLst>
            <pc:docMk/>
            <pc:sldMk cId="2252824350" sldId="276"/>
            <ac:spMk id="5" creationId="{4264F462-CD2E-4533-99E9-0C3EEE5EE403}"/>
          </ac:spMkLst>
        </pc:spChg>
      </pc:sldChg>
      <pc:sldChg chg="addSp delSp modSp add mod">
        <pc:chgData name="Varun Bantia" userId="74518b88c48bb1f6" providerId="LiveId" clId="{A77A4FC6-3C34-4AEA-B256-715E718BB2A1}" dt="2026-04-05T17:11:33.774" v="722" actId="207"/>
        <pc:sldMkLst>
          <pc:docMk/>
          <pc:sldMk cId="950223606" sldId="277"/>
        </pc:sldMkLst>
        <pc:spChg chg="add mod">
          <ac:chgData name="Varun Bantia" userId="74518b88c48bb1f6" providerId="LiveId" clId="{A77A4FC6-3C34-4AEA-B256-715E718BB2A1}" dt="2026-04-05T17:11:33.774" v="722" actId="207"/>
          <ac:spMkLst>
            <pc:docMk/>
            <pc:sldMk cId="950223606" sldId="277"/>
            <ac:spMk id="3" creationId="{9A176F46-BDDC-3F7D-2EAE-33152C0A23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9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2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7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D7468DF-90FF-EA9B-5ECF-0624FF3B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F28499AC-F656-8DF7-1B39-868DCDB03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DB0813BC-724F-77BD-77BA-F1DCF41E3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3420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C38FE1F-E2D6-954D-CF1F-447717E4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EDE8DCD7-3E28-C390-887E-29C1EED9D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45E8241E-0F0D-CDB3-4171-8F27B6A3B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525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C98206B-C3B1-2D22-386B-3FAB06E9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4A1B7381-1CDE-9AA3-9A0D-FED1255D6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906A0BFD-5F0E-BFEF-E21D-1DADAC7DE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5859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5700F5A-EA4B-7089-682B-F4038DCE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9BA273F8-A6CB-37FD-41A5-A1A78F6C2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A867AB6B-49C7-0D31-7796-CBEF9A3CD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18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275F43E-ED09-837A-A16C-9D2BA2E7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488B477B-6F1A-9F44-F120-7337A85DF6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1D825FC6-46F9-B441-6237-CF4FD3F27A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0133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AD4593D-FD6B-A931-28B3-839C2BFB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CF54C535-8C46-1F5F-78FE-F64C6352E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84C3161D-4D41-0243-F598-E0F4FEDA0C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897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F1E47E-8312-2713-313D-97803318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11;p5:notes">
            <a:extLst>
              <a:ext uri="{FF2B5EF4-FFF2-40B4-BE49-F238E27FC236}">
                <a16:creationId xmlns:a16="http://schemas.microsoft.com/office/drawing/2014/main" id="{1A5ED44A-8FF1-6CC3-6BD4-D20B93AE3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1" name="Google Shape;112;p5:notes">
            <a:extLst>
              <a:ext uri="{FF2B5EF4-FFF2-40B4-BE49-F238E27FC236}">
                <a16:creationId xmlns:a16="http://schemas.microsoft.com/office/drawing/2014/main" id="{0D55B938-A54E-2A82-DFA7-F2326D75B4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5944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5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9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4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2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583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4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4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95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6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7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67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8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9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1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2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8673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4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5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7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78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79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80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048681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2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3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2097155" name="Google Shape;52;p7" descr="C:\Users\AMMU\Desktop\Border.png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88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89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90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1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92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56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8657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2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3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1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3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</a:lvl1pPr>
            <a:lvl2pPr marL="0" lvl="1" indent="0" algn="r" rtl="0">
              <a:spcBef>
                <a:spcPts val="0"/>
              </a:spcBef>
              <a:buNone/>
            </a:lvl2pPr>
            <a:lvl3pPr marL="0" lvl="2" indent="0" algn="r" rtl="0">
              <a:spcBef>
                <a:spcPts val="0"/>
              </a:spcBef>
              <a:buNone/>
            </a:lvl3pPr>
            <a:lvl4pPr marL="0" lvl="3" indent="0" algn="r" rtl="0">
              <a:spcBef>
                <a:spcPts val="0"/>
              </a:spcBef>
              <a:buNone/>
            </a:lvl4pPr>
            <a:lvl5pPr marL="0" lvl="4" indent="0" algn="r" rtl="0">
              <a:spcBef>
                <a:spcPts val="0"/>
              </a:spcBef>
              <a:buNone/>
            </a:lvl5pPr>
            <a:lvl6pPr marL="0" lvl="5" indent="0" algn="r" rtl="0">
              <a:spcBef>
                <a:spcPts val="0"/>
              </a:spcBef>
              <a:buNone/>
            </a:lvl6pPr>
            <a:lvl7pPr marL="0" lvl="6" indent="0" algn="r" rtl="0">
              <a:spcBef>
                <a:spcPts val="0"/>
              </a:spcBef>
              <a:buNone/>
            </a:lvl7pPr>
            <a:lvl8pPr marL="0" lvl="7" indent="0" algn="r" rtl="0">
              <a:spcBef>
                <a:spcPts val="0"/>
              </a:spcBef>
              <a:buNone/>
            </a:lvl8pPr>
            <a:lvl9pPr marL="0" lvl="8" indent="0" algn="r" rtl="0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3145728" name="Google Shape;11;p1"/>
          <p:cNvCxnSpPr>
            <a:cxnSpLocks/>
          </p:cNvCxnSpPr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97152" name="Google Shape;12;p1"/>
          <p:cNvPicPr preferRelativeResize="0">
            <a:picLocks/>
          </p:cNvPicPr>
          <p:nvPr/>
        </p:nvPicPr>
        <p:blipFill rotWithShape="1">
          <a:blip r:embed="rId13">
            <a:alphaModFix/>
          </a:blip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1215399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Digital Mental Health and Psychological Support System for Students in Higher Education</a:t>
            </a:r>
            <a:br>
              <a:rPr lang="en-US" sz="2400" b="0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7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CSE_08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8588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 Jerrin Joe Francis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4194304" name="Google Shape;89;p13"/>
          <p:cNvGraphicFramePr>
            <a:graphicFrameLocks/>
          </p:cNvGraphicFramePr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20221CSE0372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20221CSE0442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20221CSE0440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Varun Bantia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Prathyusha K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u="none" strike="noStrike" cap="none" dirty="0"/>
                        <a:t>Venkatashiva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8589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rgbClr val="17365D"/>
              </a:buClr>
              <a:buSzPct val="100000"/>
            </a:pPr>
            <a:r>
              <a:rPr lang="en-IN" sz="1800" dirty="0"/>
              <a:t>CSE7302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048590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dirty="0"/>
              <a:t>Dr. Asif Mohammed and Dr. Blessed Prince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dirty="0"/>
              <a:t>Dr. </a:t>
            </a:r>
            <a:r>
              <a:rPr lang="en-IN" sz="1800" dirty="0" err="1"/>
              <a:t>Jayavadivel</a:t>
            </a:r>
            <a:r>
              <a:rPr lang="en-IN" sz="1800" dirty="0"/>
              <a:t> Ravi and </a:t>
            </a:r>
            <a:r>
              <a:rPr lang="en-IN" sz="1800" dirty="0" err="1"/>
              <a:t>Mr.Muthuraju</a:t>
            </a:r>
            <a:r>
              <a:rPr lang="en-IN" sz="1800" dirty="0"/>
              <a:t> V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Alogrithm Details</a:t>
            </a:r>
          </a:p>
        </p:txBody>
      </p:sp>
      <p:sp>
        <p:nvSpPr>
          <p:cNvPr id="1048615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508" y="1075864"/>
            <a:ext cx="392734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dirty="0"/>
              <a:t>Safety-First Message 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A12CD-E3E5-0825-0D42-6924C8497EC4}"/>
              </a:ext>
            </a:extLst>
          </p:cNvPr>
          <p:cNvSpPr txBox="1"/>
          <p:nvPr/>
        </p:nvSpPr>
        <p:spPr>
          <a:xfrm>
            <a:off x="466344" y="1646364"/>
            <a:ext cx="70134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Input: User message M</a:t>
            </a:r>
          </a:p>
          <a:p>
            <a:r>
              <a:rPr lang="en-IN" sz="1600" dirty="0"/>
              <a:t>Output: Safe response OR Safety intervention</a:t>
            </a:r>
          </a:p>
          <a:p>
            <a:endParaRPr lang="en-IN" sz="1600" dirty="0"/>
          </a:p>
          <a:p>
            <a:r>
              <a:rPr lang="en-IN" sz="1600" dirty="0"/>
              <a:t>Step 1: Receive user message M</a:t>
            </a:r>
          </a:p>
          <a:p>
            <a:r>
              <a:rPr lang="en-IN" sz="1600" dirty="0"/>
              <a:t>Step 2: Send M to </a:t>
            </a:r>
            <a:r>
              <a:rPr lang="en-IN" sz="1600" dirty="0" err="1"/>
              <a:t>SafetyManager</a:t>
            </a:r>
            <a:endParaRPr lang="en-IN" sz="1600" dirty="0"/>
          </a:p>
          <a:p>
            <a:endParaRPr lang="en-IN" sz="1600" dirty="0"/>
          </a:p>
          <a:p>
            <a:r>
              <a:rPr lang="en-IN" sz="1600" dirty="0"/>
              <a:t>Step 3: </a:t>
            </a:r>
            <a:r>
              <a:rPr lang="en-IN" sz="1600" dirty="0" err="1"/>
              <a:t>SafetyManager</a:t>
            </a:r>
            <a:r>
              <a:rPr lang="en-IN" sz="1600" dirty="0"/>
              <a:t> calls ML model:</a:t>
            </a:r>
          </a:p>
          <a:p>
            <a:r>
              <a:rPr lang="en-IN" sz="1600" dirty="0"/>
              <a:t>         score = predict(M)</a:t>
            </a:r>
          </a:p>
          <a:p>
            <a:endParaRPr lang="en-IN" sz="1600" dirty="0"/>
          </a:p>
          <a:p>
            <a:r>
              <a:rPr lang="en-IN" sz="1600" dirty="0"/>
              <a:t>Step 4: If score &gt;= 0.5 then</a:t>
            </a:r>
          </a:p>
          <a:p>
            <a:r>
              <a:rPr lang="en-IN" sz="1600" dirty="0"/>
              <a:t>            Mark as HIGH RISK</a:t>
            </a:r>
          </a:p>
          <a:p>
            <a:r>
              <a:rPr lang="en-IN" sz="1600" dirty="0"/>
              <a:t>            Block ChatGPT API call</a:t>
            </a:r>
          </a:p>
          <a:p>
            <a:r>
              <a:rPr lang="en-IN" sz="1600" dirty="0"/>
              <a:t>            Return Safety Response (helpline message)</a:t>
            </a:r>
          </a:p>
          <a:p>
            <a:r>
              <a:rPr lang="en-IN" sz="1600" dirty="0"/>
              <a:t>        Else</a:t>
            </a:r>
          </a:p>
          <a:p>
            <a:r>
              <a:rPr lang="en-IN" sz="1600" dirty="0"/>
              <a:t>            Mark as SAFE</a:t>
            </a:r>
          </a:p>
          <a:p>
            <a:r>
              <a:rPr lang="en-IN" sz="1600" dirty="0"/>
              <a:t>            Forward message to ChatGPT API</a:t>
            </a:r>
          </a:p>
          <a:p>
            <a:endParaRPr lang="en-IN" sz="1600" dirty="0"/>
          </a:p>
          <a:p>
            <a:r>
              <a:rPr lang="en-IN" sz="1600" dirty="0"/>
              <a:t>Step 5: Display response to user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Alogrithm Details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723CB-CE30-9F6B-3F5C-C51FF9B23405}"/>
              </a:ext>
            </a:extLst>
          </p:cNvPr>
          <p:cNvSpPr txBox="1"/>
          <p:nvPr/>
        </p:nvSpPr>
        <p:spPr>
          <a:xfrm>
            <a:off x="340614" y="1508956"/>
            <a:ext cx="456057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Input: User details, selected date/time                                                    </a:t>
            </a:r>
          </a:p>
          <a:p>
            <a:r>
              <a:rPr lang="en-IN" sz="2000" dirty="0"/>
              <a:t>Output: Booking confirmation or failure</a:t>
            </a:r>
          </a:p>
          <a:p>
            <a:endParaRPr lang="en-IN" sz="2000" dirty="0"/>
          </a:p>
          <a:p>
            <a:r>
              <a:rPr lang="en-IN" sz="2000" dirty="0"/>
              <a:t>Step 1: User selects counsellor/service</a:t>
            </a:r>
          </a:p>
          <a:p>
            <a:r>
              <a:rPr lang="en-IN" sz="2000" dirty="0"/>
              <a:t>Step 2: User chooses date and time slot</a:t>
            </a:r>
          </a:p>
          <a:p>
            <a:endParaRPr lang="en-IN" sz="2000" dirty="0"/>
          </a:p>
          <a:p>
            <a:r>
              <a:rPr lang="en-IN" sz="2000" dirty="0"/>
              <a:t>Step 3: Validate input:</a:t>
            </a:r>
          </a:p>
          <a:p>
            <a:r>
              <a:rPr lang="en-IN" sz="2000" dirty="0"/>
              <a:t>        - Check internet connectivity</a:t>
            </a:r>
          </a:p>
          <a:p>
            <a:r>
              <a:rPr lang="en-IN" sz="2000" dirty="0"/>
              <a:t>        - Check required fields</a:t>
            </a:r>
          </a:p>
          <a:p>
            <a:endParaRPr lang="en-IN" sz="2000" dirty="0"/>
          </a:p>
          <a:p>
            <a:r>
              <a:rPr lang="en-IN" sz="2000" dirty="0"/>
              <a:t>Step 4: Check slot availability from database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770CB-45C1-92CC-342F-3022EA478DB7}"/>
              </a:ext>
            </a:extLst>
          </p:cNvPr>
          <p:cNvSpPr txBox="1"/>
          <p:nvPr/>
        </p:nvSpPr>
        <p:spPr>
          <a:xfrm>
            <a:off x="5001768" y="1363319"/>
            <a:ext cx="609447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Step 5: If slot is already booked then</a:t>
            </a:r>
          </a:p>
          <a:p>
            <a:r>
              <a:rPr lang="en-IN" sz="2000" dirty="0"/>
              <a:t>            Show "Slot Unavailable"</a:t>
            </a:r>
          </a:p>
          <a:p>
            <a:r>
              <a:rPr lang="en-IN" sz="2000" dirty="0"/>
              <a:t>            Ask user to select another slot</a:t>
            </a:r>
          </a:p>
          <a:p>
            <a:r>
              <a:rPr lang="en-IN" sz="2000" dirty="0"/>
              <a:t>        Else</a:t>
            </a:r>
          </a:p>
          <a:p>
            <a:r>
              <a:rPr lang="en-IN" sz="2000" dirty="0"/>
              <a:t>            Proceed to booking</a:t>
            </a:r>
          </a:p>
          <a:p>
            <a:r>
              <a:rPr lang="en-IN" sz="2000" dirty="0"/>
              <a:t>                    </a:t>
            </a:r>
          </a:p>
          <a:p>
            <a:r>
              <a:rPr lang="en-IN" sz="2000" dirty="0"/>
              <a:t>Step 6: Create booking object:</a:t>
            </a:r>
          </a:p>
          <a:p>
            <a:r>
              <a:rPr lang="en-IN" sz="2000" dirty="0"/>
              <a:t>        (</a:t>
            </a:r>
            <a:r>
              <a:rPr lang="en-IN" sz="2000" dirty="0" err="1"/>
              <a:t>userId</a:t>
            </a:r>
            <a:r>
              <a:rPr lang="en-IN" sz="2000" dirty="0"/>
              <a:t>, </a:t>
            </a:r>
            <a:r>
              <a:rPr lang="en-IN" sz="2000" dirty="0" err="1"/>
              <a:t>counsellorId</a:t>
            </a:r>
            <a:r>
              <a:rPr lang="en-IN" sz="2000" dirty="0"/>
              <a:t>, date, time, status)</a:t>
            </a:r>
          </a:p>
          <a:p>
            <a:endParaRPr lang="en-IN" sz="2000" dirty="0"/>
          </a:p>
          <a:p>
            <a:r>
              <a:rPr lang="en-IN" sz="2000" dirty="0"/>
              <a:t>Step 7: Store booking in database</a:t>
            </a:r>
          </a:p>
          <a:p>
            <a:endParaRPr lang="en-IN" sz="2000" dirty="0"/>
          </a:p>
          <a:p>
            <a:r>
              <a:rPr lang="en-IN" sz="2000" dirty="0"/>
              <a:t>Step 8: Send confirmation to user</a:t>
            </a:r>
          </a:p>
          <a:p>
            <a:endParaRPr lang="en-IN" sz="2000" dirty="0"/>
          </a:p>
          <a:p>
            <a:r>
              <a:rPr lang="en-IN" sz="2000" dirty="0"/>
              <a:t>Step 9: Update slot as booked</a:t>
            </a:r>
          </a:p>
          <a:p>
            <a:endParaRPr lang="en-IN" sz="2000" dirty="0"/>
          </a:p>
          <a:p>
            <a:r>
              <a:rPr lang="en-IN" sz="2000" dirty="0"/>
              <a:t>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89A43-0B2E-F334-132C-F60D75869BA2}"/>
              </a:ext>
            </a:extLst>
          </p:cNvPr>
          <p:cNvSpPr txBox="1"/>
          <p:nvPr/>
        </p:nvSpPr>
        <p:spPr>
          <a:xfrm>
            <a:off x="432054" y="1078069"/>
            <a:ext cx="6094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Appointment Booking Algorithm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E354BB1-AC00-D8E9-10BB-8F5B2D951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7808C77D-817B-5617-38ED-7D359C6FF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Alogrithm Details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C30D9-53E0-0E2F-4D4B-56BC5D35F09A}"/>
              </a:ext>
            </a:extLst>
          </p:cNvPr>
          <p:cNvSpPr txBox="1"/>
          <p:nvPr/>
        </p:nvSpPr>
        <p:spPr>
          <a:xfrm>
            <a:off x="432054" y="1078069"/>
            <a:ext cx="609447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Community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23037-6D88-76FB-E4F8-1BBD0A37CBE4}"/>
              </a:ext>
            </a:extLst>
          </p:cNvPr>
          <p:cNvSpPr txBox="1"/>
          <p:nvPr/>
        </p:nvSpPr>
        <p:spPr>
          <a:xfrm>
            <a:off x="432054" y="1624947"/>
            <a:ext cx="1051331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Selection: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User writes a post and selects a category (e.g., Anxiety, Stress).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Screening: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System automatically scans the post for high-risk words using </a:t>
            </a:r>
            <a:r>
              <a:rPr lang="en-US" sz="2400" b="0" i="0" dirty="0" err="1">
                <a:solidFill>
                  <a:schemeClr val="tx1"/>
                </a:solidFill>
                <a:effectLst/>
                <a:latin typeface="ui-monospace"/>
              </a:rPr>
              <a:t>CrisisDetectionUtils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Anonymization: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User chooses to post using their real name or as an "Anonymous Peer."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Publishing: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The post is saved to the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Cloud </a:t>
            </a:r>
            <a:r>
              <a:rPr lang="en-US" sz="2400" b="1" i="0" dirty="0" err="1">
                <a:solidFill>
                  <a:schemeClr val="tx1"/>
                </a:solidFill>
                <a:effectLst/>
                <a:latin typeface="Segoe WPC"/>
              </a:rPr>
              <a:t>Firestore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and assigned a 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ui-monospace"/>
              </a:rPr>
              <a:t>pending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or 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ui-monospace"/>
              </a:rPr>
              <a:t>approved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status.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Engagement: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Other students interact in real-time by adding "Support" (hearts) or "Replies."</a:t>
            </a: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Regulation: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Users can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Segoe WPC"/>
              </a:rPr>
              <a:t>Report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Segoe WPC"/>
              </a:rPr>
              <a:t> inappropriate content, which immediately flags and hides the post from the community feed.</a:t>
            </a:r>
          </a:p>
        </p:txBody>
      </p:sp>
    </p:spTree>
    <p:extLst>
      <p:ext uri="{BB962C8B-B14F-4D97-AF65-F5344CB8AC3E}">
        <p14:creationId xmlns:p14="http://schemas.microsoft.com/office/powerpoint/2010/main" val="25394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DD71F54-5B2B-39F1-0BAB-0C1D8AC2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DABA1B3B-122B-F766-9653-9215E38AC4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002432C9-04B5-5DC0-9938-21F8A50FD9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80113D9-8159-2A88-48F2-52F03C763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46220" y="887650"/>
            <a:ext cx="3927348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dirty="0"/>
              <a:t>Safety-First Message 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5F5F0-934E-4D8B-7E3B-A3876011C417}"/>
              </a:ext>
            </a:extLst>
          </p:cNvPr>
          <p:cNvSpPr txBox="1"/>
          <p:nvPr/>
        </p:nvSpPr>
        <p:spPr>
          <a:xfrm>
            <a:off x="322326" y="1189177"/>
            <a:ext cx="60944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Threshold-Based Filtering: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 The system uses a strict </a:t>
            </a:r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0.5 risk threshold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.</a:t>
            </a:r>
          </a:p>
          <a:p>
            <a:pPr algn="l"/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Classification Workflow:</a:t>
            </a:r>
            <a:endParaRPr lang="en-IN" sz="1200" b="0" i="0" dirty="0">
              <a:solidFill>
                <a:schemeClr val="tx1"/>
              </a:solidFill>
              <a:effectLst/>
              <a:latin typeface="Segoe WPC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User sends a message.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0" i="0" dirty="0" err="1">
                <a:solidFill>
                  <a:schemeClr val="tx1"/>
                </a:solidFill>
                <a:effectLst/>
                <a:latin typeface="ui-monospace"/>
              </a:rPr>
              <a:t>CustomSafetyClassifier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 (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Segoe WPC"/>
              </a:rPr>
              <a:t>TFLite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/Offline ML) generates a </a:t>
            </a:r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Risk Score (0.0 to 1.0)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Score &lt; 0.5: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 Message is "Safe" $\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Segoe WPC"/>
              </a:rPr>
              <a:t>rightarrow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$ Sent to ChatGPT.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Score $\</a:t>
            </a:r>
            <a:r>
              <a:rPr lang="en-IN" sz="1200" b="1" i="0" dirty="0" err="1">
                <a:solidFill>
                  <a:schemeClr val="tx1"/>
                </a:solidFill>
                <a:effectLst/>
                <a:latin typeface="Segoe WPC"/>
              </a:rPr>
              <a:t>ge</a:t>
            </a:r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$ 0.5: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 Message is "High-Risk" $\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Segoe WPC"/>
              </a:rPr>
              <a:t>rightarrow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Segoe WPC"/>
              </a:rPr>
              <a:t>$ Blocked immediately.</a:t>
            </a:r>
          </a:p>
          <a:p>
            <a:pPr algn="l"/>
            <a:r>
              <a:rPr lang="en-IN" sz="1200" b="1" i="0" dirty="0">
                <a:solidFill>
                  <a:schemeClr val="tx1"/>
                </a:solidFill>
                <a:effectLst/>
                <a:latin typeface="Segoe WPC"/>
              </a:rPr>
              <a:t>Code Highlight (Prediction Logic):</a:t>
            </a:r>
            <a:endParaRPr lang="en-IN" sz="1200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Local ML Inference Logic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SafetyResult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analyzeMessage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(String message) {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1. Hand over raw text to Offline ML Model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float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riskScore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customClassifier.predict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(message);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2. Threshold Check (Safety Threshold = 0.5)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riskScore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&gt;= 0.5f) {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// [HIGH-RISK] Block communication and trigger Crisis Protocol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return new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SafetyResult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(false,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riskScore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 "Blocked by ML");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[SAFE] Proceed to AI conversational engine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return new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SafetyResult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(true, </a:t>
            </a:r>
            <a:r>
              <a:rPr lang="en-IN" sz="1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riskScore</a:t>
            </a: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 "Safe to process");</a:t>
            </a:r>
          </a:p>
          <a:p>
            <a:pPr algn="l">
              <a:buNone/>
            </a:pPr>
            <a:r>
              <a:rPr lang="en-IN" sz="1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A62D1D-59E0-4B5F-1692-C5383FA9472F}"/>
              </a:ext>
            </a:extLst>
          </p:cNvPr>
          <p:cNvSpPr txBox="1"/>
          <p:nvPr/>
        </p:nvSpPr>
        <p:spPr>
          <a:xfrm>
            <a:off x="6311646" y="1189177"/>
            <a:ext cx="466115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The Challenge: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ML models sometimes misinterpret short, common greetings (e.g., "Hi", "Hello") as risky due to training data noise.</a:t>
            </a:r>
          </a:p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The Solution: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An 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Optimization Layer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that whitelists common greetings to ensure a smooth user experience.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Code Highlight (Whitelisting):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Prevents ML False Positives on simple greetings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private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boolean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isCommonGreeting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(String message)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String clean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message.toLowerCase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().trim();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Regex check for variations of Hi/Hello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if 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clean.matches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h+i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+|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hello|hey|hlo|hola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"))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return true; // Bypass ML for instant "Safe" result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return false;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978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92C1485-1F0C-2E62-2457-6AEB1FEF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E627E832-F5DE-BE1A-73BE-639EBEBA43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156E8B1-81F2-A103-2B17-8BBE4E7CB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B7DBEA-A5B7-5952-A427-94A67423AC0A}"/>
              </a:ext>
            </a:extLst>
          </p:cNvPr>
          <p:cNvSpPr txBox="1"/>
          <p:nvPr/>
        </p:nvSpPr>
        <p:spPr>
          <a:xfrm>
            <a:off x="514350" y="1443841"/>
            <a:ext cx="477088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Immediate Action: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 When the Safety Manager blocks a message, the system swaps the AI response with a static </a:t>
            </a:r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Crisis Intervention Message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.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Resource Delivery: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 Instantly provides local verified helpline numbers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Segoe WPC"/>
              </a:rPr>
              <a:t>iCall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, NIMHANS,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Code Highlight (Intervention Payload):</a:t>
            </a:r>
            <a:endParaRPr lang="en-US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String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getSafetyResponseMessage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 {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return "I noticed you might be going through a difficult time. " +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"You're not alone, and support is available.\n\n" +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"🆘 Verified Helplines:\n" +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"•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Vandrevala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Foundation: 1860-2662-345\n" +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"• NIMHANS Crisis Line: 080-46110007\n\n" +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"Support is just a call away.";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C77B61-A312-6F29-FFFF-5A7A7B8A6068}"/>
              </a:ext>
            </a:extLst>
          </p:cNvPr>
          <p:cNvSpPr txBox="1"/>
          <p:nvPr/>
        </p:nvSpPr>
        <p:spPr>
          <a:xfrm>
            <a:off x="5452110" y="1563273"/>
            <a:ext cx="60944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Asynchronous Processing: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 ML analysis happens on a background thread to prevent UI freezing.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Speed: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 Inference time is tracked in milliseconds (typically </a:t>
            </a:r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&lt; 50ms</a:t>
            </a:r>
            <a:r>
              <a:rPr lang="en-US" b="0" i="0" dirty="0">
                <a:solidFill>
                  <a:schemeClr val="tx1"/>
                </a:solidFill>
                <a:effectLst/>
                <a:latin typeface="Segoe WPC"/>
              </a:rPr>
              <a:t>) to ensure the chatbot feels "alive" and responsive.</a:t>
            </a:r>
          </a:p>
          <a:p>
            <a:pPr algn="l"/>
            <a:r>
              <a:rPr lang="en-US" b="1" i="0" dirty="0">
                <a:solidFill>
                  <a:schemeClr val="tx1"/>
                </a:solidFill>
                <a:effectLst/>
                <a:latin typeface="Segoe WPC"/>
              </a:rPr>
              <a:t>Result Reporting:</a:t>
            </a:r>
            <a:endParaRPr lang="en-US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Performance Tracking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long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inferenceTime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System.currentTimeMillis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 -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startTime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String details =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String.format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("ML Score: %.3f, Latency: %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dms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", </a:t>
            </a:r>
          </a:p>
          <a:p>
            <a:pPr algn="l">
              <a:buNone/>
            </a:pP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                       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riskScore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inferenceTime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Log.d</a:t>
            </a:r>
            <a:r>
              <a:rPr lang="en-US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("SAFETY_AUDIT", details);</a:t>
            </a:r>
          </a:p>
        </p:txBody>
      </p:sp>
    </p:spTree>
    <p:extLst>
      <p:ext uri="{BB962C8B-B14F-4D97-AF65-F5344CB8AC3E}">
        <p14:creationId xmlns:p14="http://schemas.microsoft.com/office/powerpoint/2010/main" val="345249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770A5554-422D-9C91-9687-4DA659FE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5A98DD54-ACFB-CA52-32DE-2EB1F75CC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232" y="32950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4E3E82B-90F9-42C3-8C77-7D6EEF93D5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C5AB4-4D87-2317-0FA9-F360AE342748}"/>
              </a:ext>
            </a:extLst>
          </p:cNvPr>
          <p:cNvSpPr txBox="1"/>
          <p:nvPr/>
        </p:nvSpPr>
        <p:spPr>
          <a:xfrm>
            <a:off x="267462" y="1228397"/>
            <a:ext cx="509092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Privacy-First Design: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The system never stores the raw Firebase UID in the booking record.</a:t>
            </a:r>
          </a:p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Mechanism: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Uses 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SHA-256 Hashing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to obfuscate user identity.</a:t>
            </a:r>
          </a:p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Code Highlight (Security Logic):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Identity Obfuscation via SHA-256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hashUid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uid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MessageDigest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digest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MessageDigest.getInstance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("SHA-256");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byte[] hash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digest.digest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uid.getBytes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(StandardCharsets.UTF_8));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Converting hash bytes to Secure Hex format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StringBuilder hex = new StringBuilder();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for (byte b : hash)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hex.append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String.format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("%02x", b));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}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return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hex.toString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();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256A3E-96D8-F31A-27C4-BC55B61ED71D}"/>
              </a:ext>
            </a:extLst>
          </p:cNvPr>
          <p:cNvSpPr txBox="1"/>
          <p:nvPr/>
        </p:nvSpPr>
        <p:spPr>
          <a:xfrm>
            <a:off x="5561838" y="1336119"/>
            <a:ext cx="609447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Object-Oriented Design: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Uses a POJO (Plain Old Java Object) compatible with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Segoe WPC"/>
              </a:rPr>
              <a:t>Firestore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 automatic mapping.</a:t>
            </a:r>
          </a:p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State Management: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Built-in support for </a:t>
            </a:r>
            <a:r>
              <a:rPr lang="en-IN" b="0" i="0" dirty="0">
                <a:solidFill>
                  <a:schemeClr val="tx1"/>
                </a:solidFill>
                <a:effectLst/>
                <a:latin typeface="ui-monospace"/>
              </a:rPr>
              <a:t>pending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, </a:t>
            </a:r>
            <a:r>
              <a:rPr lang="en-IN" b="0" i="0" dirty="0">
                <a:solidFill>
                  <a:schemeClr val="tx1"/>
                </a:solidFill>
                <a:effectLst/>
                <a:latin typeface="ui-monospace"/>
              </a:rPr>
              <a:t>confirmed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, and </a:t>
            </a:r>
            <a:r>
              <a:rPr lang="en-IN" b="0" i="0" dirty="0">
                <a:solidFill>
                  <a:schemeClr val="tx1"/>
                </a:solidFill>
                <a:effectLst/>
                <a:latin typeface="ui-monospace"/>
              </a:rPr>
              <a:t>cancelled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status flags.</a:t>
            </a:r>
          </a:p>
          <a:p>
            <a:pPr algn="l"/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Code Highlight (Data Schema):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class Booking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bookingId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      // Human-readable ID (MNM-XXXX)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userRef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        // Hashed Student ID (Privacy)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status;          // Lifecycle: pending | confirmed | cancelled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@ServerTimestamp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Timestamp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createdAt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   // Backend-driven Audit Trail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public Booking() {} // Required for Firebase mapping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2BF051-1079-7E41-FE30-DAC7C9BA6B03}"/>
              </a:ext>
            </a:extLst>
          </p:cNvPr>
          <p:cNvSpPr txBox="1"/>
          <p:nvPr/>
        </p:nvSpPr>
        <p:spPr>
          <a:xfrm>
            <a:off x="4144518" y="9492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Booking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11601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8A26453-A161-BDD6-8CA1-B0CFD9DA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BAE4A789-5B7E-06F4-8973-B369A361E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232" y="32950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77BB9FC-709D-7DC4-1E23-00D9BFB91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EA027-B453-E4ED-A848-DFFDA92FF951}"/>
              </a:ext>
            </a:extLst>
          </p:cNvPr>
          <p:cNvSpPr txBox="1"/>
          <p:nvPr/>
        </p:nvSpPr>
        <p:spPr>
          <a:xfrm>
            <a:off x="413766" y="1298905"/>
            <a:ext cx="477088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Date Constraints: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Uses </a:t>
            </a:r>
            <a:r>
              <a:rPr lang="en-IN" b="0" i="0" dirty="0" err="1">
                <a:solidFill>
                  <a:schemeClr val="tx1"/>
                </a:solidFill>
                <a:effectLst/>
                <a:latin typeface="ui-monospace"/>
              </a:rPr>
              <a:t>DateValidatorPointForward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to automatically block past dates in the calendar.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Time Slot Logic: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Interactive Material Chips for intuitive selection of appointment windows.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Code Highlight (Constraint Logic):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Restricting date selection to future only</a:t>
            </a:r>
          </a:p>
          <a:p>
            <a:pPr algn="l">
              <a:buNone/>
            </a:pP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CalendarConstraints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constraints = new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CalendarConstraints.Builder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.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setValidator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DateValidatorPointForward.now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())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.build();</a:t>
            </a:r>
          </a:p>
          <a:p>
            <a:pPr algn="l">
              <a:buNone/>
            </a:pP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MaterialDatePicker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&lt;Long&gt; picker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MaterialDatePicker.Builder.datePicker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.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setTitleText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("Select Appointment Date")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.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setCalendarConstraints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(constraints)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  .build();</a:t>
            </a:r>
          </a:p>
        </p:txBody>
      </p:sp>
    </p:spTree>
    <p:extLst>
      <p:ext uri="{BB962C8B-B14F-4D97-AF65-F5344CB8AC3E}">
        <p14:creationId xmlns:p14="http://schemas.microsoft.com/office/powerpoint/2010/main" val="317696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965A7DA8-768E-108C-5AD6-19761167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88FDD5EB-6E20-1163-7C34-07BB7FC5A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232" y="32950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4DB1A1F-B62D-BFD9-B0D8-F925E7EF3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F3BFC-5316-54AE-DE16-5354FA9F744C}"/>
              </a:ext>
            </a:extLst>
          </p:cNvPr>
          <p:cNvSpPr txBox="1"/>
          <p:nvPr/>
        </p:nvSpPr>
        <p:spPr>
          <a:xfrm>
            <a:off x="267172" y="1256982"/>
            <a:ext cx="77429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1. The Data Structure (</a:t>
            </a:r>
            <a:r>
              <a:rPr lang="en-IN" b="1" i="0" dirty="0">
                <a:solidFill>
                  <a:schemeClr val="tx1"/>
                </a:solidFill>
                <a:effectLst/>
                <a:latin typeface="ui-monospace"/>
              </a:rPr>
              <a:t>Post.java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)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Show this to explain how a Post is stored in the cloud.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class Post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content;      // The main text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String status;       // pending | approved | flagged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int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supportCount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   // Hearts/Likes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int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replyCount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     // Number of replies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private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boolean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isAnonymous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; // User privacy switch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2. The Submission Logic (</a:t>
            </a:r>
            <a:r>
              <a:rPr lang="en-IN" b="1" i="0" dirty="0">
                <a:solidFill>
                  <a:schemeClr val="tx1"/>
                </a:solidFill>
                <a:effectLst/>
                <a:latin typeface="ui-monospace"/>
              </a:rPr>
              <a:t>CreatePostActivity.java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)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This shows the 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Crisis Check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before saving the post.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Logic during Post Submission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postContent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edtContent.getText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toString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STEP 1: Crisis Word Search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if 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CrisisDetectionUtils.hasCrisisKeywords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postContent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REDIRECT: Immediately send student to HELPLINE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redirectToCrisisHelpline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 else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STEP 2: Save to Firebase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repository.createPost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(new Post(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postContent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isAnonymous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64F462-CD2E-4533-99E9-0C3EEE5EE403}"/>
              </a:ext>
            </a:extLst>
          </p:cNvPr>
          <p:cNvSpPr txBox="1"/>
          <p:nvPr/>
        </p:nvSpPr>
        <p:spPr>
          <a:xfrm>
            <a:off x="3888486" y="887650"/>
            <a:ext cx="3124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Community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2252824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A8A882B-1829-3580-6BE5-F9DC92ED0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14;p17">
            <a:extLst>
              <a:ext uri="{FF2B5EF4-FFF2-40B4-BE49-F238E27FC236}">
                <a16:creationId xmlns:a16="http://schemas.microsoft.com/office/drawing/2014/main" id="{CC0EBA02-230E-AAFD-1553-9C6EC3655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232" y="329502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CC1A4054-ED64-80CC-9C2F-AD18EA0022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499" y="-152401"/>
            <a:ext cx="1224717" cy="122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D8EBC-E426-51B3-B52E-F81DE0C01D44}"/>
              </a:ext>
            </a:extLst>
          </p:cNvPr>
          <p:cNvSpPr txBox="1"/>
          <p:nvPr/>
        </p:nvSpPr>
        <p:spPr>
          <a:xfrm>
            <a:off x="3888486" y="887650"/>
            <a:ext cx="3124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Community Implementation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76F46-BDDC-3F7D-2EAE-33152C0A23C2}"/>
              </a:ext>
            </a:extLst>
          </p:cNvPr>
          <p:cNvSpPr txBox="1"/>
          <p:nvPr/>
        </p:nvSpPr>
        <p:spPr>
          <a:xfrm>
            <a:off x="432054" y="1256982"/>
            <a:ext cx="98275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3. Engagement Logic (</a:t>
            </a:r>
            <a:r>
              <a:rPr lang="en-IN" b="1" i="0" dirty="0">
                <a:solidFill>
                  <a:schemeClr val="tx1"/>
                </a:solidFill>
                <a:effectLst/>
                <a:latin typeface="ui-monospace"/>
              </a:rPr>
              <a:t>PeerSupportRepository.java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)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This shows the 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Atomic Increment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logic which ensures data accuracy.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Logic for Real-time Engagement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void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supportPost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(String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db.collection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("posts")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.document(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// Atomic Update: Prevents "Race Conditions"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  .update("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supportCount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",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FieldValue.increment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(1));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br>
              <a:rPr lang="en-IN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  <a:p>
            <a:pPr algn="l"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4. Moderation &amp; Safety (</a:t>
            </a:r>
            <a:r>
              <a:rPr lang="en-IN" b="1" i="0" dirty="0">
                <a:solidFill>
                  <a:schemeClr val="tx1"/>
                </a:solidFill>
                <a:effectLst/>
                <a:latin typeface="ui-monospace"/>
              </a:rPr>
              <a:t>PeerSupportRepository.java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)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This shows how the </a:t>
            </a: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Reporting System</a:t>
            </a: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 works to hide content.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ui-sans-serif"/>
              </a:rPr>
              <a:t>java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// Logic for Flagging Harmful Content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public void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reportPost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(Report report) {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String id =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reportsRef.document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getId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reportsRef.document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(id).set(report);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IMMEDIATE MITIGATION: Update post status to flagged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postsRef.document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report.getPostId</a:t>
            </a: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()).update("status", "flagged");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    // Result: Post is filtered OUT from the public feed instantly!</a:t>
            </a:r>
          </a:p>
          <a:p>
            <a:pPr algn="l">
              <a:buNone/>
            </a:pPr>
            <a:r>
              <a:rPr lang="en-IN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022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14;p17"/>
          <p:cNvSpPr txBox="1">
            <a:spLocks noGrp="1"/>
          </p:cNvSpPr>
          <p:nvPr>
            <p:ph type="title"/>
          </p:nvPr>
        </p:nvSpPr>
        <p:spPr>
          <a:xfrm>
            <a:off x="904240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53DB97-583B-362B-BD3A-8DFDDA6C47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52928" y="185928"/>
            <a:ext cx="3395472" cy="339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E8016-A853-04FE-6E12-0739A0041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568" y="1421892"/>
            <a:ext cx="2263249" cy="4551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AE2DC8-0F48-A14D-D1FB-6075BA892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209" y="1364243"/>
            <a:ext cx="2327277" cy="46095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DB84C82-439C-23FA-8444-1CAA98192B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59" y="1413073"/>
            <a:ext cx="1940652" cy="43366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7560275-5978-175F-C0E0-83551A5F6506}"/>
              </a:ext>
            </a:extLst>
          </p:cNvPr>
          <p:cNvSpPr txBox="1"/>
          <p:nvPr/>
        </p:nvSpPr>
        <p:spPr>
          <a:xfrm>
            <a:off x="1133423" y="994910"/>
            <a:ext cx="184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Sign Up Page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E1529-576E-3DBB-DBC9-E053343E1430}"/>
              </a:ext>
            </a:extLst>
          </p:cNvPr>
          <p:cNvSpPr txBox="1"/>
          <p:nvPr/>
        </p:nvSpPr>
        <p:spPr>
          <a:xfrm>
            <a:off x="4401312" y="1023342"/>
            <a:ext cx="184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Login Page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E02F72-D349-8F1F-FC71-2387A4BBAB45}"/>
              </a:ext>
            </a:extLst>
          </p:cNvPr>
          <p:cNvSpPr txBox="1"/>
          <p:nvPr/>
        </p:nvSpPr>
        <p:spPr>
          <a:xfrm>
            <a:off x="7967905" y="1052560"/>
            <a:ext cx="151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Home Page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CE2514-757E-FE09-DF43-7374BD633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15028"/>
            <a:ext cx="2096628" cy="4685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ADAB7A-B99D-3E78-492E-A818AD14D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199" y="1315028"/>
            <a:ext cx="2096627" cy="4685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7D7270-1396-256B-C5ED-2FDA6A340B30}"/>
              </a:ext>
            </a:extLst>
          </p:cNvPr>
          <p:cNvSpPr txBox="1"/>
          <p:nvPr/>
        </p:nvSpPr>
        <p:spPr>
          <a:xfrm>
            <a:off x="1133423" y="994910"/>
            <a:ext cx="184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Booking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4526-2124-183A-A162-2A010DDA639C}"/>
              </a:ext>
            </a:extLst>
          </p:cNvPr>
          <p:cNvSpPr txBox="1"/>
          <p:nvPr/>
        </p:nvSpPr>
        <p:spPr>
          <a:xfrm>
            <a:off x="4313968" y="945696"/>
            <a:ext cx="184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Booking Page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8DD93D-300C-78F0-CC39-A6EEDA0BB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378" y="1315028"/>
            <a:ext cx="2271720" cy="4829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54C27F-89ED-D70A-E38B-769EEA0FD392}"/>
              </a:ext>
            </a:extLst>
          </p:cNvPr>
          <p:cNvSpPr txBox="1"/>
          <p:nvPr/>
        </p:nvSpPr>
        <p:spPr>
          <a:xfrm>
            <a:off x="8083694" y="945696"/>
            <a:ext cx="184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Chatbot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1677</Words>
  <Application>Microsoft Office PowerPoint</Application>
  <PresentationFormat>Widescreen</PresentationFormat>
  <Paragraphs>242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Cambria</vt:lpstr>
      <vt:lpstr>Courier New</vt:lpstr>
      <vt:lpstr>Segoe WPC</vt:lpstr>
      <vt:lpstr>ui-monospace</vt:lpstr>
      <vt:lpstr>ui-sans-serif</vt:lpstr>
      <vt:lpstr>Verdana</vt:lpstr>
      <vt:lpstr>Bioinformatics</vt:lpstr>
      <vt:lpstr>Development of a Digital Mental Health and Psychological Support System for Students in Higher Education </vt:lpstr>
      <vt:lpstr>Alogrithm Details</vt:lpstr>
      <vt:lpstr>Alogrithm Details</vt:lpstr>
      <vt:lpstr>Alogrithm Details</vt:lpstr>
      <vt:lpstr>Source Code Details</vt:lpstr>
      <vt:lpstr>Source Code Details</vt:lpstr>
      <vt:lpstr>Source Code Details</vt:lpstr>
      <vt:lpstr>Source Code Details</vt:lpstr>
      <vt:lpstr>Source Code Details</vt:lpstr>
      <vt:lpstr>Source Code Details</vt:lpstr>
      <vt:lpstr>Results</vt:lpstr>
      <vt:lpstr>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Varun Bantia</cp:lastModifiedBy>
  <cp:revision>3</cp:revision>
  <dcterms:created xsi:type="dcterms:W3CDTF">2025-08-12T16:46:22Z</dcterms:created>
  <dcterms:modified xsi:type="dcterms:W3CDTF">2026-04-08T03:47:23Z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1a0a1e6851d74b63a855fc9bb534e9a8</vt:lpwstr>
  </property>
</Properties>
</file>