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70"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DF5ED6-CE3D-4D03-94EF-051EBF9DF1A3}" v="38" dt="2026-01-11T06:38:48.554"/>
  </p1510:revLst>
</p1510:revInfo>
</file>

<file path=ppt/tableStyles.xml><?xml version="1.0" encoding="utf-8"?>
<a:tblStyleLst xmlns:a="http://schemas.openxmlformats.org/drawingml/2006/main" def="{5C22544A-7EE6-4342-B048-85BDC9FD1C3A}">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104869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9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1048591"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592"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00"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01"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04"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05"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08"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09"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12"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13"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16"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17"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20"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21"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24"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25"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28"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29"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048643"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44"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048581"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582"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048583"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584"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585"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1048593"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594"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lvl6pPr>
            <a:lvl7pPr marL="3200400" lvl="6" indent="-342900" algn="l" rtl="0">
              <a:spcBef>
                <a:spcPts val="360"/>
              </a:spcBef>
              <a:spcAft>
                <a:spcPts val="0"/>
              </a:spcAft>
              <a:buClr>
                <a:schemeClr val="dk1"/>
              </a:buClr>
              <a:buSzPts val="1800"/>
              <a:buChar char="•"/>
            </a:lvl7pPr>
            <a:lvl8pPr marL="3657600" lvl="7" indent="-342900" algn="l" rtl="0">
              <a:spcBef>
                <a:spcPts val="360"/>
              </a:spcBef>
              <a:spcAft>
                <a:spcPts val="0"/>
              </a:spcAft>
              <a:buClr>
                <a:schemeClr val="dk1"/>
              </a:buClr>
              <a:buSzPts val="1800"/>
              <a:buChar char="•"/>
            </a:lvl8pPr>
            <a:lvl9pPr marL="4114800" lvl="8" indent="-342900" algn="l" rtl="0">
              <a:spcBef>
                <a:spcPts val="360"/>
              </a:spcBef>
              <a:spcAft>
                <a:spcPts val="0"/>
              </a:spcAft>
              <a:buClr>
                <a:schemeClr val="dk1"/>
              </a:buClr>
              <a:buSzPts val="1800"/>
              <a:buChar char="•"/>
            </a:lvl9pPr>
          </a:lstStyle>
          <a:p>
            <a:endParaRPr/>
          </a:p>
        </p:txBody>
      </p:sp>
      <p:sp>
        <p:nvSpPr>
          <p:cNvPr id="1048595"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596"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597"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1048665"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66"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1048667"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68"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69"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1048670"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71"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1048672"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1048673"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74"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75"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1048676"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77"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1048678"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1048679"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1048680"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1048681"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82"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83"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1048645"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46"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47"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48"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pic>
        <p:nvPicPr>
          <p:cNvPr id="2097155" name="Google Shape;52;p7" descr="C:\Users\AMMU\Desktop\Border.png"/>
          <p:cNvPicPr preferRelativeResize="0">
            <a:picLocks/>
          </p:cNvPicPr>
          <p:nvPr/>
        </p:nvPicPr>
        <p:blipFill rotWithShape="1">
          <a:blip r:embed="rId2">
            <a:alphaModFix/>
          </a:blip>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104868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8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8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1048687"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88"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1048689"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1048690"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91"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92"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1048654"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55" name="Google Shape;66;p10"/>
          <p:cNvSpPr>
            <a:spLocks noGrp="1"/>
          </p:cNvSpPr>
          <p:nvPr>
            <p:ph type="pic" idx="2"/>
          </p:nvPr>
        </p:nvSpPr>
        <p:spPr>
          <a:xfrm>
            <a:off x="2389717" y="612775"/>
            <a:ext cx="7315200" cy="4114800"/>
          </a:xfrm>
          <a:prstGeom prst="rect">
            <a:avLst/>
          </a:prstGeom>
          <a:noFill/>
          <a:ln>
            <a:noFill/>
          </a:ln>
        </p:spPr>
      </p:sp>
      <p:sp>
        <p:nvSpPr>
          <p:cNvPr id="1048656"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1048657"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58"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59"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1048660"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61"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lvl1pPr>
            <a:lvl2pPr marL="914400" lvl="1" indent="-342900" algn="l" rtl="0">
              <a:spcBef>
                <a:spcPts val="360"/>
              </a:spcBef>
              <a:spcAft>
                <a:spcPts val="0"/>
              </a:spcAft>
              <a:buClr>
                <a:schemeClr val="dk1"/>
              </a:buClr>
              <a:buSzPts val="1800"/>
              <a:buChar char="–"/>
            </a:lvl2pPr>
            <a:lvl3pPr marL="1371600" lvl="2" indent="-342900" algn="l" rtl="0">
              <a:spcBef>
                <a:spcPts val="360"/>
              </a:spcBef>
              <a:spcAft>
                <a:spcPts val="0"/>
              </a:spcAft>
              <a:buClr>
                <a:schemeClr val="dk1"/>
              </a:buClr>
              <a:buSzPts val="1800"/>
              <a:buChar char="•"/>
            </a:lvl3pPr>
            <a:lvl4pPr marL="1828800" lvl="3" indent="-342900" algn="l" rtl="0">
              <a:spcBef>
                <a:spcPts val="360"/>
              </a:spcBef>
              <a:spcAft>
                <a:spcPts val="0"/>
              </a:spcAft>
              <a:buClr>
                <a:schemeClr val="dk1"/>
              </a:buClr>
              <a:buSzPts val="1800"/>
              <a:buChar char="–"/>
            </a:lvl4pPr>
            <a:lvl5pPr marL="2286000" lvl="4" indent="-342900" algn="l" rtl="0">
              <a:spcBef>
                <a:spcPts val="360"/>
              </a:spcBef>
              <a:spcAft>
                <a:spcPts val="0"/>
              </a:spcAft>
              <a:buClr>
                <a:schemeClr val="dk1"/>
              </a:buClr>
              <a:buSzPts val="1800"/>
              <a:buChar char="»"/>
            </a:lvl5pPr>
            <a:lvl6pPr marL="2743200" lvl="5" indent="-342900" algn="l" rtl="0">
              <a:spcBef>
                <a:spcPts val="360"/>
              </a:spcBef>
              <a:spcAft>
                <a:spcPts val="0"/>
              </a:spcAft>
              <a:buClr>
                <a:schemeClr val="dk1"/>
              </a:buClr>
              <a:buSzPts val="1800"/>
              <a:buChar char="•"/>
            </a:lvl6pPr>
            <a:lvl7pPr marL="3200400" lvl="6" indent="-342900" algn="l" rtl="0">
              <a:spcBef>
                <a:spcPts val="360"/>
              </a:spcBef>
              <a:spcAft>
                <a:spcPts val="0"/>
              </a:spcAft>
              <a:buClr>
                <a:schemeClr val="dk1"/>
              </a:buClr>
              <a:buSzPts val="1800"/>
              <a:buChar char="•"/>
            </a:lvl7pPr>
            <a:lvl8pPr marL="3657600" lvl="7" indent="-342900" algn="l" rtl="0">
              <a:spcBef>
                <a:spcPts val="360"/>
              </a:spcBef>
              <a:spcAft>
                <a:spcPts val="0"/>
              </a:spcAft>
              <a:buClr>
                <a:schemeClr val="dk1"/>
              </a:buClr>
              <a:buSzPts val="1800"/>
              <a:buChar char="•"/>
            </a:lvl8pPr>
            <a:lvl9pPr marL="4114800" lvl="8" indent="-342900" algn="l" rtl="0">
              <a:spcBef>
                <a:spcPts val="360"/>
              </a:spcBef>
              <a:spcAft>
                <a:spcPts val="0"/>
              </a:spcAft>
              <a:buClr>
                <a:schemeClr val="dk1"/>
              </a:buClr>
              <a:buSzPts val="1800"/>
              <a:buChar char="•"/>
            </a:lvl9pPr>
          </a:lstStyle>
          <a:p>
            <a:endParaRPr/>
          </a:p>
        </p:txBody>
      </p:sp>
      <p:sp>
        <p:nvSpPr>
          <p:cNvPr id="1048662"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63"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64"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1048649"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endParaRPr/>
          </a:p>
        </p:txBody>
      </p:sp>
      <p:sp>
        <p:nvSpPr>
          <p:cNvPr id="1048650"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lvl1pPr>
            <a:lvl2pPr marL="914400" lvl="1" indent="-342900" algn="l" rtl="0">
              <a:spcBef>
                <a:spcPts val="360"/>
              </a:spcBef>
              <a:spcAft>
                <a:spcPts val="0"/>
              </a:spcAft>
              <a:buClr>
                <a:schemeClr val="dk1"/>
              </a:buClr>
              <a:buSzPts val="1800"/>
              <a:buChar char="–"/>
            </a:lvl2pPr>
            <a:lvl3pPr marL="1371600" lvl="2" indent="-342900" algn="l" rtl="0">
              <a:spcBef>
                <a:spcPts val="360"/>
              </a:spcBef>
              <a:spcAft>
                <a:spcPts val="0"/>
              </a:spcAft>
              <a:buClr>
                <a:schemeClr val="dk1"/>
              </a:buClr>
              <a:buSzPts val="1800"/>
              <a:buChar char="•"/>
            </a:lvl3pPr>
            <a:lvl4pPr marL="1828800" lvl="3" indent="-342900" algn="l" rtl="0">
              <a:spcBef>
                <a:spcPts val="360"/>
              </a:spcBef>
              <a:spcAft>
                <a:spcPts val="0"/>
              </a:spcAft>
              <a:buClr>
                <a:schemeClr val="dk1"/>
              </a:buClr>
              <a:buSzPts val="1800"/>
              <a:buChar char="–"/>
            </a:lvl4pPr>
            <a:lvl5pPr marL="2286000" lvl="4" indent="-342900" algn="l" rtl="0">
              <a:spcBef>
                <a:spcPts val="360"/>
              </a:spcBef>
              <a:spcAft>
                <a:spcPts val="0"/>
              </a:spcAft>
              <a:buClr>
                <a:schemeClr val="dk1"/>
              </a:buClr>
              <a:buSzPts val="1800"/>
              <a:buChar char="»"/>
            </a:lvl5pPr>
            <a:lvl6pPr marL="2743200" lvl="5" indent="-342900" algn="l" rtl="0">
              <a:spcBef>
                <a:spcPts val="360"/>
              </a:spcBef>
              <a:spcAft>
                <a:spcPts val="0"/>
              </a:spcAft>
              <a:buClr>
                <a:schemeClr val="dk1"/>
              </a:buClr>
              <a:buSzPts val="1800"/>
              <a:buChar char="•"/>
            </a:lvl6pPr>
            <a:lvl7pPr marL="3200400" lvl="6" indent="-342900" algn="l" rtl="0">
              <a:spcBef>
                <a:spcPts val="360"/>
              </a:spcBef>
              <a:spcAft>
                <a:spcPts val="0"/>
              </a:spcAft>
              <a:buClr>
                <a:schemeClr val="dk1"/>
              </a:buClr>
              <a:buSzPts val="1800"/>
              <a:buChar char="•"/>
            </a:lvl7pPr>
            <a:lvl8pPr marL="3657600" lvl="7" indent="-342900" algn="l" rtl="0">
              <a:spcBef>
                <a:spcPts val="360"/>
              </a:spcBef>
              <a:spcAft>
                <a:spcPts val="0"/>
              </a:spcAft>
              <a:buClr>
                <a:schemeClr val="dk1"/>
              </a:buClr>
              <a:buSzPts val="1800"/>
              <a:buChar char="•"/>
            </a:lvl8pPr>
            <a:lvl9pPr marL="4114800" lvl="8" indent="-342900" algn="l" rtl="0">
              <a:spcBef>
                <a:spcPts val="360"/>
              </a:spcBef>
              <a:spcAft>
                <a:spcPts val="0"/>
              </a:spcAft>
              <a:buClr>
                <a:schemeClr val="dk1"/>
              </a:buClr>
              <a:buSzPts val="1800"/>
              <a:buChar char="•"/>
            </a:lvl9pPr>
          </a:lstStyle>
          <a:p>
            <a:endParaRPr/>
          </a:p>
        </p:txBody>
      </p:sp>
      <p:sp>
        <p:nvSpPr>
          <p:cNvPr id="1048651"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52"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lvl1pPr>
            <a:lvl2pPr lvl="1" algn="l" rtl="0">
              <a:spcBef>
                <a:spcPts val="0"/>
              </a:spcBef>
              <a:spcAft>
                <a:spcPts val="0"/>
              </a:spcAft>
              <a:buSzPts val="1400"/>
              <a:buNone/>
            </a:lvl2pPr>
            <a:lvl3pPr lvl="2" algn="l" rtl="0">
              <a:spcBef>
                <a:spcPts val="0"/>
              </a:spcBef>
              <a:spcAft>
                <a:spcPts val="0"/>
              </a:spcAft>
              <a:buSzPts val="1400"/>
              <a:buNone/>
            </a:lvl3pPr>
            <a:lvl4pPr lvl="3" algn="l" rtl="0">
              <a:spcBef>
                <a:spcPts val="0"/>
              </a:spcBef>
              <a:spcAft>
                <a:spcPts val="0"/>
              </a:spcAft>
              <a:buSzPts val="1400"/>
              <a:buNone/>
            </a:lvl4pPr>
            <a:lvl5pPr lvl="4" algn="l" rtl="0">
              <a:spcBef>
                <a:spcPts val="0"/>
              </a:spcBef>
              <a:spcAft>
                <a:spcPts val="0"/>
              </a:spcAft>
              <a:buSzPts val="1400"/>
              <a:buNone/>
            </a:lvl5pPr>
            <a:lvl6pPr lvl="5" algn="l" rtl="0">
              <a:spcBef>
                <a:spcPts val="0"/>
              </a:spcBef>
              <a:spcAft>
                <a:spcPts val="0"/>
              </a:spcAft>
              <a:buSzPts val="1400"/>
              <a:buNone/>
            </a:lvl6pPr>
            <a:lvl7pPr lvl="6" algn="l" rtl="0">
              <a:spcBef>
                <a:spcPts val="0"/>
              </a:spcBef>
              <a:spcAft>
                <a:spcPts val="0"/>
              </a:spcAft>
              <a:buSzPts val="1400"/>
              <a:buNone/>
            </a:lvl7pPr>
            <a:lvl8pPr lvl="7" algn="l" rtl="0">
              <a:spcBef>
                <a:spcPts val="0"/>
              </a:spcBef>
              <a:spcAft>
                <a:spcPts val="0"/>
              </a:spcAft>
              <a:buSzPts val="1400"/>
              <a:buNone/>
            </a:lvl8pPr>
            <a:lvl9pPr lvl="8" algn="l" rtl="0">
              <a:spcBef>
                <a:spcPts val="0"/>
              </a:spcBef>
              <a:spcAft>
                <a:spcPts val="0"/>
              </a:spcAft>
              <a:buSzPts val="1400"/>
              <a:buNone/>
            </a:lvl9pPr>
          </a:lstStyle>
          <a:p>
            <a:endParaRPr/>
          </a:p>
        </p:txBody>
      </p:sp>
      <p:sp>
        <p:nvSpPr>
          <p:cNvPr id="1048653"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lvl1pPr>
            <a:lvl2pPr marL="0" lvl="1" indent="0" algn="r" rtl="0">
              <a:spcBef>
                <a:spcPts val="0"/>
              </a:spcBef>
              <a:buNone/>
            </a:lvl2pPr>
            <a:lvl3pPr marL="0" lvl="2" indent="0" algn="r" rtl="0">
              <a:spcBef>
                <a:spcPts val="0"/>
              </a:spcBef>
              <a:buNone/>
            </a:lvl3pPr>
            <a:lvl4pPr marL="0" lvl="3" indent="0" algn="r" rtl="0">
              <a:spcBef>
                <a:spcPts val="0"/>
              </a:spcBef>
              <a:buNone/>
            </a:lvl4pPr>
            <a:lvl5pPr marL="0" lvl="4" indent="0" algn="r" rtl="0">
              <a:spcBef>
                <a:spcPts val="0"/>
              </a:spcBef>
              <a:buNone/>
            </a:lvl5pPr>
            <a:lvl6pPr marL="0" lvl="5" indent="0" algn="r" rtl="0">
              <a:spcBef>
                <a:spcPts val="0"/>
              </a:spcBef>
              <a:buNone/>
            </a:lvl6pPr>
            <a:lvl7pPr marL="0" lvl="6" indent="0" algn="r" rtl="0">
              <a:spcBef>
                <a:spcPts val="0"/>
              </a:spcBef>
              <a:buNone/>
            </a:lvl7pPr>
            <a:lvl8pPr marL="0" lvl="7" indent="0" algn="r" rtl="0">
              <a:spcBef>
                <a:spcPts val="0"/>
              </a:spcBef>
              <a:buNone/>
            </a:lvl8pPr>
            <a:lvl9pPr marL="0" lvl="8" indent="0" algn="r" rtl="0">
              <a:spcBef>
                <a:spcPts val="0"/>
              </a:spcBef>
              <a:buNone/>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104857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04857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4857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4857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4858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lang="en-GB"/>
          </a:p>
        </p:txBody>
      </p:sp>
      <p:cxnSp>
        <p:nvCxnSpPr>
          <p:cNvPr id="3145728" name="Google Shape;11;p1"/>
          <p:cNvCxnSpPr>
            <a:cxnSpLocks/>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2097152" name="Google Shape;12;p1"/>
          <p:cNvPicPr preferRelativeResize="0">
            <a:picLocks/>
          </p:cNvPicPr>
          <p:nvPr/>
        </p:nvPicPr>
        <p:blipFill rotWithShape="1">
          <a:blip r:embed="rId13">
            <a:alphaModFix/>
          </a:blip>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1048586" name="Google Shape;87;p13"/>
          <p:cNvSpPr txBox="1">
            <a:spLocks noGrp="1"/>
          </p:cNvSpPr>
          <p:nvPr>
            <p:ph type="ctrTitle"/>
          </p:nvPr>
        </p:nvSpPr>
        <p:spPr>
          <a:xfrm>
            <a:off x="790422" y="1215399"/>
            <a:ext cx="10363200" cy="962898"/>
          </a:xfrm>
          <a:prstGeom prst="rect">
            <a:avLst/>
          </a:prstGeom>
          <a:noFill/>
          <a:ln>
            <a:noFill/>
          </a:ln>
        </p:spPr>
        <p:txBody>
          <a:bodyPr spcFirstLastPara="1" wrap="square" lIns="91425" tIns="45700" rIns="91425" bIns="45700" anchor="ctr" anchorCtr="0">
            <a:noAutofit/>
          </a:bodyPr>
          <a:lstStyle/>
          <a:p>
            <a:pPr algn="ctr"/>
            <a:r>
              <a:rPr lang="en-US" sz="2400" dirty="0">
                <a:solidFill>
                  <a:schemeClr val="accent1">
                    <a:lumMod val="50000"/>
                  </a:schemeClr>
                </a:solidFill>
                <a:latin typeface="Verdana" panose="020B0604030504040204" pitchFamily="34" charset="0"/>
                <a:ea typeface="Verdana" panose="020B0604030504040204" pitchFamily="34" charset="0"/>
              </a:rPr>
              <a:t>Development of a Digital Mental Health and Psychological Support System for Students in Higher Education</a:t>
            </a:r>
            <a:br>
              <a:rPr lang="en-US" sz="2400" b="0" dirty="0">
                <a:solidFill>
                  <a:srgbClr val="000000"/>
                </a:solidFill>
                <a:latin typeface="Aptos" panose="020B0004020202020204" pitchFamily="34" charset="0"/>
              </a:rPr>
            </a:br>
            <a:endParaRPr sz="2400" dirty="0">
              <a:solidFill>
                <a:schemeClr val="tx1"/>
              </a:solidFill>
              <a:latin typeface="Cambria" panose="02040503050406030204" pitchFamily="18" charset="0"/>
              <a:ea typeface="Cambria" panose="02040503050406030204" pitchFamily="18" charset="0"/>
            </a:endParaRPr>
          </a:p>
        </p:txBody>
      </p:sp>
      <p:sp>
        <p:nvSpPr>
          <p:cNvPr id="1048587"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CSE_08</a:t>
            </a:r>
            <a:endParaRPr sz="1800" dirty="0">
              <a:latin typeface="Cambria" panose="02040503050406030204" pitchFamily="18" charset="0"/>
              <a:ea typeface="Cambria" panose="02040503050406030204" pitchFamily="18" charset="0"/>
            </a:endParaRPr>
          </a:p>
        </p:txBody>
      </p:sp>
      <p:sp>
        <p:nvSpPr>
          <p:cNvPr id="1048588"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dirty="0">
                <a:solidFill>
                  <a:srgbClr val="17365D"/>
                </a:solidFill>
                <a:latin typeface="Cambria" panose="02040503050406030204" pitchFamily="18" charset="0"/>
                <a:ea typeface="Cambria" panose="02040503050406030204" pitchFamily="18" charset="0"/>
                <a:sym typeface="Verdana"/>
              </a:rPr>
              <a:t>Mr Jerrin Joe Francis</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4194304" name="Google Shape;89;p13"/>
          <p:cNvGraphicFramePr>
            <a:graphicFrameLocks/>
          </p:cNvGraphicFramePr>
          <p:nvPr/>
        </p:nvGraphicFramePr>
        <p:xfrm>
          <a:off x="553347" y="2721840"/>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20221CSE0372</a:t>
                      </a:r>
                    </a:p>
                    <a:p>
                      <a:pPr marL="0" marR="0" lvl="0" indent="0" algn="ctr" rtl="0">
                        <a:spcBef>
                          <a:spcPts val="0"/>
                        </a:spcBef>
                        <a:spcAft>
                          <a:spcPts val="0"/>
                        </a:spcAft>
                        <a:buFont typeface="+mj-lt"/>
                        <a:buNone/>
                      </a:pPr>
                      <a:r>
                        <a:rPr lang="en-IN" sz="1800" u="none" strike="noStrike" cap="none" dirty="0"/>
                        <a:t>20221CSE0442</a:t>
                      </a:r>
                    </a:p>
                    <a:p>
                      <a:pPr marL="0" marR="0" lvl="0" indent="0" algn="ctr" rtl="0">
                        <a:spcBef>
                          <a:spcPts val="0"/>
                        </a:spcBef>
                        <a:spcAft>
                          <a:spcPts val="0"/>
                        </a:spcAft>
                        <a:buFont typeface="+mj-lt"/>
                        <a:buNone/>
                      </a:pPr>
                      <a:r>
                        <a:rPr lang="en-IN" sz="1800" u="none" strike="noStrike" cap="none" dirty="0"/>
                        <a:t>20221CSE0440</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Varun Bantia</a:t>
                      </a:r>
                    </a:p>
                    <a:p>
                      <a:pPr marL="0" marR="0" lvl="0" indent="0" algn="ctr" rtl="0">
                        <a:spcBef>
                          <a:spcPts val="0"/>
                        </a:spcBef>
                        <a:spcAft>
                          <a:spcPts val="0"/>
                        </a:spcAft>
                        <a:buNone/>
                      </a:pPr>
                      <a:r>
                        <a:rPr lang="en-IN" sz="1800" u="none" strike="noStrike" cap="none" dirty="0"/>
                        <a:t>Prathyusha K</a:t>
                      </a:r>
                    </a:p>
                    <a:p>
                      <a:pPr marL="0" marR="0" lvl="0" indent="0" algn="ctr" rtl="0">
                        <a:spcBef>
                          <a:spcPts val="0"/>
                        </a:spcBef>
                        <a:spcAft>
                          <a:spcPts val="0"/>
                        </a:spcAft>
                        <a:buNone/>
                      </a:pPr>
                      <a:r>
                        <a:rPr lang="en-US" altLang="en-GB" sz="1800" u="none" strike="noStrike" cap="none" dirty="0"/>
                        <a:t>Venkatashiva Reddy</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048589"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lvl="0" algn="ctr">
              <a:buClr>
                <a:srgbClr val="17365D"/>
              </a:buClr>
              <a:buSzPct val="100000"/>
            </a:pPr>
            <a:r>
              <a:rPr lang="en-IN" sz="1800" dirty="0"/>
              <a:t>CSE7302</a:t>
            </a:r>
            <a:r>
              <a:rPr lang="en-GB" sz="1800" b="1" dirty="0">
                <a:solidFill>
                  <a:srgbClr val="17365D"/>
                </a:solidFill>
                <a:latin typeface="Cambria" panose="02040503050406030204" pitchFamily="18" charset="0"/>
                <a:ea typeface="Cambria" panose="02040503050406030204" pitchFamily="18" charset="0"/>
                <a:cs typeface="Verdana"/>
                <a:sym typeface="Verdana"/>
              </a:rPr>
              <a:t>-</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17365D"/>
                </a:solidFill>
                <a:latin typeface="Cambria" panose="02040503050406030204" pitchFamily="18" charset="0"/>
                <a:ea typeface="Cambria" panose="02040503050406030204" pitchFamily="18" charset="0"/>
                <a:cs typeface="Verdana"/>
                <a:sym typeface="Verdana"/>
              </a:rPr>
              <a:t>U</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1048590"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600" b="1" dirty="0">
                <a:solidFill>
                  <a:schemeClr val="tx1"/>
                </a:solidFill>
                <a:latin typeface="Cambria" panose="02040503050406030204" pitchFamily="18" charset="0"/>
                <a:ea typeface="Cambria" panose="02040503050406030204" pitchFamily="18" charset="0"/>
                <a:cs typeface="Verdana"/>
                <a:sym typeface="Verdana"/>
              </a:rPr>
              <a:t>School of Computer Science and Engineering</a:t>
            </a:r>
            <a:endParaRPr lang="en-US" sz="1600" dirty="0">
              <a:solidFill>
                <a:schemeClr val="tx1"/>
              </a:solidFill>
              <a:latin typeface="Cambria" panose="02040503050406030204" pitchFamily="18" charset="0"/>
              <a:ea typeface="Cambria" panose="02040503050406030204" pitchFamily="18" charset="0"/>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dirty="0"/>
              <a:t>Dr. Asif Mohammed and Dr. Blessed Prince</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dirty="0"/>
              <a:t>Dr. </a:t>
            </a:r>
            <a:r>
              <a:rPr lang="en-IN" sz="1800" dirty="0" err="1"/>
              <a:t>Jayavadivel</a:t>
            </a:r>
            <a:r>
              <a:rPr lang="en-IN" sz="1800" dirty="0"/>
              <a:t> Ravi and </a:t>
            </a:r>
            <a:r>
              <a:rPr lang="en-IN" sz="1800" dirty="0" err="1"/>
              <a:t>Mr.Muthuraju</a:t>
            </a:r>
            <a:r>
              <a:rPr lang="en-IN" sz="1800" dirty="0"/>
              <a:t> V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48598" name="Google Shape;96;p14"/>
          <p:cNvSpPr txBox="1">
            <a:spLocks noGrp="1"/>
          </p:cNvSpPr>
          <p:nvPr>
            <p:ph type="title"/>
          </p:nvPr>
        </p:nvSpPr>
        <p:spPr>
          <a:xfrm>
            <a:off x="812800" y="283782"/>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1048599" name="Google Shape;97;p14"/>
          <p:cNvSpPr txBox="1">
            <a:spLocks noGrp="1"/>
          </p:cNvSpPr>
          <p:nvPr>
            <p:ph type="body" idx="1"/>
          </p:nvPr>
        </p:nvSpPr>
        <p:spPr>
          <a:xfrm>
            <a:off x="139130" y="977474"/>
            <a:ext cx="11766358" cy="5139861"/>
          </a:xfrm>
          <a:prstGeom prst="rect">
            <a:avLst/>
          </a:prstGeom>
          <a:noFill/>
          <a:ln>
            <a:noFill/>
          </a:ln>
        </p:spPr>
        <p:txBody>
          <a:bodyPr spcFirstLastPara="1" wrap="square" lIns="91425" tIns="45700" rIns="91425" bIns="45700" anchor="t" anchorCtr="0">
            <a:normAutofit fontScale="41447" lnSpcReduction="20000"/>
          </a:bodyPr>
          <a:lstStyle/>
          <a:p>
            <a:pPr marL="342900" lvl="0" indent="-190500" algn="just">
              <a:spcBef>
                <a:spcPts val="0"/>
              </a:spcBef>
              <a:buNone/>
            </a:pPr>
            <a:r>
              <a:rPr lang="en-US" sz="4300" dirty="0">
                <a:latin typeface="Verdana" panose="020B0604030504040204" pitchFamily="34" charset="0"/>
                <a:ea typeface="Verdana" panose="020B0604030504040204" pitchFamily="34" charset="0"/>
              </a:rPr>
              <a:t>Organization: </a:t>
            </a:r>
            <a:r>
              <a:rPr lang="en-US" sz="4500" dirty="0">
                <a:latin typeface="Verdana" panose="020B0604030504040204" pitchFamily="34" charset="0"/>
                <a:ea typeface="Verdana" panose="020B0604030504040204" pitchFamily="34" charset="0"/>
              </a:rPr>
              <a:t>Government of Jammu  and Kashmir  </a:t>
            </a:r>
          </a:p>
          <a:p>
            <a:pPr marL="342900" lvl="0" indent="-190500" algn="just">
              <a:lnSpc>
                <a:spcPct val="200000"/>
              </a:lnSpc>
              <a:spcBef>
                <a:spcPts val="0"/>
              </a:spcBef>
              <a:buNone/>
            </a:pPr>
            <a:r>
              <a:rPr lang="en-US" sz="4300" dirty="0">
                <a:latin typeface="Verdana" panose="020B0604030504040204" pitchFamily="34" charset="0"/>
                <a:ea typeface="Verdana" panose="020B0604030504040204" pitchFamily="34" charset="0"/>
              </a:rPr>
              <a:t>Category (Hardware / Software / Both) :</a:t>
            </a:r>
            <a:r>
              <a:rPr lang="en-US" sz="3300" dirty="0">
                <a:latin typeface="Verdana" panose="020B0604030504040204" pitchFamily="34" charset="0"/>
                <a:ea typeface="Verdana" panose="020B0604030504040204" pitchFamily="34" charset="0"/>
              </a:rPr>
              <a:t> </a:t>
            </a:r>
            <a:r>
              <a:rPr lang="en-US" sz="4500" dirty="0">
                <a:latin typeface="Verdana" panose="020B0604030504040204" pitchFamily="34" charset="0"/>
                <a:ea typeface="Verdana" panose="020B0604030504040204" pitchFamily="34" charset="0"/>
              </a:rPr>
              <a:t>Software</a:t>
            </a:r>
          </a:p>
          <a:p>
            <a:pPr marL="0" lvl="0" indent="0" algn="just" eaLnBrk="0" fontAlgn="base" hangingPunct="0">
              <a:spcBef>
                <a:spcPct val="0"/>
              </a:spcBef>
              <a:spcAft>
                <a:spcPct val="0"/>
              </a:spcAft>
              <a:buClrTx/>
              <a:buSzTx/>
              <a:buNone/>
            </a:pPr>
            <a:r>
              <a:rPr lang="en-US" sz="4300" dirty="0">
                <a:latin typeface="Verdana" panose="020B0604030504040204" pitchFamily="34" charset="0"/>
                <a:ea typeface="Verdana" panose="020B0604030504040204" pitchFamily="34" charset="0"/>
              </a:rPr>
              <a:t>Problem Description :</a:t>
            </a:r>
            <a:r>
              <a:rPr lang="en-US" sz="3300" dirty="0">
                <a:latin typeface="Verdana" panose="020B0604030504040204" pitchFamily="34" charset="0"/>
                <a:ea typeface="Verdana" panose="020B0604030504040204" pitchFamily="34" charset="0"/>
              </a:rPr>
              <a:t> </a:t>
            </a:r>
            <a:r>
              <a:rPr lang="en-US" altLang="en-US" sz="4800" dirty="0">
                <a:solidFill>
                  <a:schemeClr val="tx1"/>
                </a:solidFill>
                <a:latin typeface="Verdana" panose="020B0604030504040204" pitchFamily="34" charset="0"/>
                <a:ea typeface="Verdana" panose="020B0604030504040204" pitchFamily="34" charset="0"/>
              </a:rPr>
              <a:t>Mental health issues among students in higher education are rising due to academic pressure, career uncertainty, financial stress, social challenges, and rapid lifestyle changes. Many students experience anxiety, depression, stress, and burnout, yet existing mental health support systems in colleges and universities are often insufficient. Traditional counseling services are limited by long waiting times, lack of trained professionals, fixed schedules, and social stigma, which discourages students from seeking help. As a result, early signs of psychological distress frequently go unnoticed, negatively affecting students’ academic performance, personal well-being, and overall quality of life.</a:t>
            </a:r>
          </a:p>
          <a:p>
            <a:pPr marL="0" lvl="0" indent="0" algn="just" eaLnBrk="0" fontAlgn="base" hangingPunct="0">
              <a:spcBef>
                <a:spcPct val="0"/>
              </a:spcBef>
              <a:spcAft>
                <a:spcPct val="0"/>
              </a:spcAft>
              <a:buClrTx/>
              <a:buSzTx/>
              <a:buNone/>
            </a:pPr>
            <a:r>
              <a:rPr lang="en-US" altLang="en-US" sz="4800" dirty="0">
                <a:solidFill>
                  <a:schemeClr val="tx1"/>
                </a:solidFill>
                <a:latin typeface="Verdana" panose="020B0604030504040204" pitchFamily="34" charset="0"/>
                <a:ea typeface="Verdana" panose="020B0604030504040204" pitchFamily="34" charset="0"/>
              </a:rPr>
              <a:t>Current support mechanisms are largely reactive, offering assistance only after problems become severe, and they lack continuous monitoring and personalized care. There is minimal integration of self-help resources, peer support, and technology-driven insights that could enable early intervention. This creates a gap between students’ mental health needs and the support available to them. Therefore, there is a strong need for a digital mental health and psychological support system tailored for higher education students, one that ensures accessibility, confidentiality, early detection, and timely intervention to promote long-term well-being and academic success.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48602"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1048603"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675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48606" name="Google Shape;97;p14"/>
          <p:cNvSpPr txBox="1">
            <a:spLocks noGrp="1"/>
          </p:cNvSpPr>
          <p:nvPr>
            <p:ph type="body" idx="1"/>
          </p:nvPr>
        </p:nvSpPr>
        <p:spPr>
          <a:xfrm>
            <a:off x="266439" y="1171305"/>
            <a:ext cx="11659121" cy="3924299"/>
          </a:xfrm>
          <a:prstGeom prst="rect">
            <a:avLst/>
          </a:prstGeom>
          <a:noFill/>
          <a:ln>
            <a:noFill/>
          </a:ln>
        </p:spPr>
        <p:txBody>
          <a:bodyPr spcFirstLastPara="1" wrap="square" lIns="91425" tIns="45700" rIns="91425" bIns="45700" anchor="t" anchorCtr="0">
            <a:normAutofit fontScale="25000" lnSpcReduction="20000"/>
          </a:bodyPr>
          <a:lstStyle/>
          <a:p>
            <a:r>
              <a:rPr lang="en-US" sz="8800" dirty="0"/>
              <a:t>Students in higher education are increasingly affected by mental health challenges such as stress, anxiety, depression, and burnout, driven by academic pressure, career uncertainty, financial constraints, and social factors. However, existing mental health support systems in educational institutions are often inadequate, difficult to access, and limited by long waiting times, insufficient counseling resources, lack of personalization, and social stigma. As a result, many students do not seek timely help, leading to undetected and worsening psychological issues that adversely impact their academic performance, well-being, and overall development.</a:t>
            </a:r>
          </a:p>
          <a:p>
            <a:r>
              <a:rPr lang="en-US" sz="8800" dirty="0"/>
              <a:t>There is a lack of a unified, accessible, and proactive digital platform that can provide continuous mental health monitoring, early identification of psychological distress, confidential support, and timely professional intervention for students in higher education. This gap highlights the need for an effective digital mental health and psychological support system that can deliver scalable, personalized, and stigma-free mental health services, ensuring improved student well-being and a supportive academic environment.</a:t>
            </a:r>
          </a:p>
          <a:p>
            <a:pPr marL="76200" indent="0">
              <a:buNone/>
            </a:pPr>
            <a:endParaRPr lang="en-US" dirty="0"/>
          </a:p>
        </p:txBody>
      </p:sp>
      <p:sp>
        <p:nvSpPr>
          <p:cNvPr id="1048607" name="Title 2"/>
          <p:cNvSpPr>
            <a:spLocks noGrp="1"/>
          </p:cNvSpPr>
          <p:nvPr>
            <p:ph type="title"/>
          </p:nvPr>
        </p:nvSpPr>
        <p:spPr/>
        <p:txBody>
          <a:bodyPr/>
          <a:lstStyle/>
          <a:p>
            <a:r>
              <a:rPr lang="en-IN" dirty="0"/>
              <a:t>Problem Statement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48610" name="Google Shape;97;p14"/>
          <p:cNvSpPr txBox="1">
            <a:spLocks noGrp="1"/>
          </p:cNvSpPr>
          <p:nvPr>
            <p:ph type="body" idx="1"/>
          </p:nvPr>
        </p:nvSpPr>
        <p:spPr>
          <a:xfrm>
            <a:off x="320040" y="1069849"/>
            <a:ext cx="11871960" cy="5084063"/>
          </a:xfrm>
          <a:prstGeom prst="rect">
            <a:avLst/>
          </a:prstGeom>
          <a:noFill/>
          <a:ln>
            <a:noFill/>
          </a:ln>
        </p:spPr>
        <p:txBody>
          <a:bodyPr spcFirstLastPara="1" wrap="square" lIns="91425" tIns="45700" rIns="91425" bIns="45700" anchor="t" anchorCtr="0">
            <a:normAutofit fontScale="25000" lnSpcReduction="20000"/>
          </a:bodyPr>
          <a:lstStyle/>
          <a:p>
            <a:r>
              <a:rPr lang="en-US" sz="9600" dirty="0"/>
              <a:t>To design and develop a digital mental health and psychological support system specifically tailored to the needs of students in higher education.</a:t>
            </a:r>
          </a:p>
          <a:p>
            <a:r>
              <a:rPr lang="en-US" sz="9600" dirty="0"/>
              <a:t>To provide accessible, confidential, and stigma-free mental health support through a user-friendly digital platform.</a:t>
            </a:r>
          </a:p>
          <a:p>
            <a:r>
              <a:rPr lang="en-US" sz="9600" dirty="0"/>
              <a:t>To enable early identification and continuous monitoring of students’ mental health conditions using self-assessment and data-driven tools.</a:t>
            </a:r>
          </a:p>
          <a:p>
            <a:r>
              <a:rPr lang="en-US" sz="9600" dirty="0"/>
              <a:t>To offer personalized self-help resources, coping strategies, and mental wellness programs based on individual student needs.</a:t>
            </a:r>
          </a:p>
          <a:p>
            <a:r>
              <a:rPr lang="en-US" sz="9600" dirty="0"/>
              <a:t>To facilitate timely access to professional counseling and psychological support through digital consultations and referrals.</a:t>
            </a:r>
          </a:p>
          <a:p>
            <a:r>
              <a:rPr lang="en-US" sz="9600" dirty="0"/>
              <a:t>To promote awareness and mental health literacy among students, encouraging proactive self-care and help-seeking behavior.</a:t>
            </a:r>
          </a:p>
          <a:p>
            <a:r>
              <a:rPr lang="en-US" sz="9600" dirty="0"/>
              <a:t>To support educational institutions in understanding mental health trends and improving student well-being through aggregated insights while maintaining data privacy.</a:t>
            </a:r>
          </a:p>
          <a:p>
            <a:pPr marL="76200" indent="0">
              <a:buNone/>
            </a:pPr>
            <a:endParaRPr lang="en-US" dirty="0"/>
          </a:p>
        </p:txBody>
      </p:sp>
      <p:sp>
        <p:nvSpPr>
          <p:cNvPr id="1048611" name="Title 2"/>
          <p:cNvSpPr>
            <a:spLocks noGrp="1"/>
          </p:cNvSpPr>
          <p:nvPr>
            <p:ph type="title"/>
          </p:nvPr>
        </p:nvSpPr>
        <p:spPr/>
        <p:txBody>
          <a:bodyPr/>
          <a:lstStyle/>
          <a:p>
            <a:pPr marL="152400" algn="just">
              <a:lnSpc>
                <a:spcPct val="200000"/>
              </a:lnSpc>
            </a:pPr>
            <a:r>
              <a:rPr lang="en-US" dirty="0">
                <a:latin typeface="Cambria" panose="02040503050406030204" pitchFamily="18" charset="0"/>
                <a:ea typeface="Cambria" panose="02040503050406030204" pitchFamily="18" charset="0"/>
              </a:rPr>
              <a:t>Objectives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048614" name="Title 2"/>
          <p:cNvSpPr>
            <a:spLocks noGrp="1"/>
          </p:cNvSpPr>
          <p:nvPr>
            <p:ph type="title"/>
          </p:nvPr>
        </p:nvSpPr>
        <p:spPr/>
        <p:txBody>
          <a:bodyPr/>
          <a:lstStyle/>
          <a:p>
            <a:pPr marL="152400" algn="just">
              <a:lnSpc>
                <a:spcPct val="200000"/>
              </a:lnSpc>
            </a:pPr>
            <a:r>
              <a:rPr lang="en-US" dirty="0">
                <a:latin typeface="Cambria" panose="02040503050406030204" pitchFamily="18" charset="0"/>
                <a:ea typeface="Cambria" panose="02040503050406030204" pitchFamily="18" charset="0"/>
              </a:rPr>
              <a:t>Alogrithm Details</a:t>
            </a:r>
          </a:p>
        </p:txBody>
      </p:sp>
      <p:sp>
        <p:nvSpPr>
          <p:cNvPr id="1048615" name="Text Placeholder 1"/>
          <p:cNvSpPr>
            <a:spLocks noGrp="1" noChangeArrowheads="1"/>
          </p:cNvSpPr>
          <p:nvPr>
            <p:ph type="body" idx="1"/>
          </p:nvPr>
        </p:nvSpPr>
        <p:spPr bwMode="auto">
          <a:xfrm>
            <a:off x="96012" y="1097280"/>
            <a:ext cx="3927348" cy="38136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buNone/>
            </a:pPr>
            <a:r>
              <a:rPr lang="en-IN" sz="1800" dirty="0"/>
              <a:t>AI Safety &amp; Crisis Detection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2310B704-5B5B-8D18-878A-CB103349CFC1}"/>
              </a:ext>
            </a:extLst>
          </p:cNvPr>
          <p:cNvPicPr>
            <a:picLocks noChangeAspect="1"/>
          </p:cNvPicPr>
          <p:nvPr/>
        </p:nvPicPr>
        <p:blipFill>
          <a:blip r:embed="rId3"/>
          <a:stretch>
            <a:fillRect/>
          </a:stretch>
        </p:blipFill>
        <p:spPr>
          <a:xfrm>
            <a:off x="1063752" y="1563830"/>
            <a:ext cx="2959608" cy="4439412"/>
          </a:xfrm>
          <a:prstGeom prst="rect">
            <a:avLst/>
          </a:prstGeom>
        </p:spPr>
      </p:pic>
      <p:sp>
        <p:nvSpPr>
          <p:cNvPr id="10" name="TextBox 9">
            <a:extLst>
              <a:ext uri="{FF2B5EF4-FFF2-40B4-BE49-F238E27FC236}">
                <a16:creationId xmlns:a16="http://schemas.microsoft.com/office/drawing/2014/main" id="{D66B09FF-DC4A-D90A-C4C4-C6547413C13E}"/>
              </a:ext>
            </a:extLst>
          </p:cNvPr>
          <p:cNvSpPr txBox="1"/>
          <p:nvPr/>
        </p:nvSpPr>
        <p:spPr>
          <a:xfrm>
            <a:off x="5655564" y="1109313"/>
            <a:ext cx="3744468" cy="369332"/>
          </a:xfrm>
          <a:prstGeom prst="rect">
            <a:avLst/>
          </a:prstGeom>
          <a:noFill/>
        </p:spPr>
        <p:txBody>
          <a:bodyPr wrap="square" rtlCol="0">
            <a:spAutoFit/>
          </a:bodyPr>
          <a:lstStyle/>
          <a:p>
            <a:r>
              <a:rPr lang="en-IN" sz="1800" dirty="0">
                <a:latin typeface="Verdana" panose="020B0604030504040204" pitchFamily="34" charset="0"/>
                <a:ea typeface="Verdana" panose="020B0604030504040204" pitchFamily="34" charset="0"/>
              </a:rPr>
              <a:t>Voice + LLM Integration</a:t>
            </a:r>
          </a:p>
        </p:txBody>
      </p:sp>
      <p:pic>
        <p:nvPicPr>
          <p:cNvPr id="15" name="Picture 14">
            <a:extLst>
              <a:ext uri="{FF2B5EF4-FFF2-40B4-BE49-F238E27FC236}">
                <a16:creationId xmlns:a16="http://schemas.microsoft.com/office/drawing/2014/main" id="{A15FA3C8-5E21-7D03-5756-4C4921358CF0}"/>
              </a:ext>
            </a:extLst>
          </p:cNvPr>
          <p:cNvPicPr>
            <a:picLocks noChangeAspect="1"/>
          </p:cNvPicPr>
          <p:nvPr/>
        </p:nvPicPr>
        <p:blipFill>
          <a:blip r:embed="rId4"/>
          <a:stretch>
            <a:fillRect/>
          </a:stretch>
        </p:blipFill>
        <p:spPr>
          <a:xfrm>
            <a:off x="5954268" y="1414716"/>
            <a:ext cx="3445764" cy="51686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048618"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Alogrithm Details</a:t>
            </a:r>
          </a:p>
        </p:txBody>
      </p:sp>
      <p:sp>
        <p:nvSpPr>
          <p:cNvPr id="2" name="TextBox 1">
            <a:extLst>
              <a:ext uri="{FF2B5EF4-FFF2-40B4-BE49-F238E27FC236}">
                <a16:creationId xmlns:a16="http://schemas.microsoft.com/office/drawing/2014/main" id="{CD4A3882-A8C7-6B59-BAFD-1728AA2BFF45}"/>
              </a:ext>
            </a:extLst>
          </p:cNvPr>
          <p:cNvSpPr txBox="1"/>
          <p:nvPr/>
        </p:nvSpPr>
        <p:spPr>
          <a:xfrm>
            <a:off x="201168" y="1132191"/>
            <a:ext cx="3291840" cy="646331"/>
          </a:xfrm>
          <a:prstGeom prst="rect">
            <a:avLst/>
          </a:prstGeom>
          <a:noFill/>
        </p:spPr>
        <p:txBody>
          <a:bodyPr wrap="square" rtlCol="0">
            <a:spAutoFit/>
          </a:bodyPr>
          <a:lstStyle/>
          <a:p>
            <a:r>
              <a:rPr lang="en-IN" sz="1800" dirty="0">
                <a:latin typeface="Verdana" panose="020B0604030504040204" pitchFamily="34" charset="0"/>
                <a:ea typeface="Verdana" panose="020B0604030504040204" pitchFamily="34" charset="0"/>
              </a:rPr>
              <a:t>Role-Based Access Control (RBAC)</a:t>
            </a:r>
          </a:p>
        </p:txBody>
      </p:sp>
      <p:pic>
        <p:nvPicPr>
          <p:cNvPr id="4" name="Picture 3">
            <a:extLst>
              <a:ext uri="{FF2B5EF4-FFF2-40B4-BE49-F238E27FC236}">
                <a16:creationId xmlns:a16="http://schemas.microsoft.com/office/drawing/2014/main" id="{A918243D-F32E-58F7-85A4-AB4E6368DD77}"/>
              </a:ext>
            </a:extLst>
          </p:cNvPr>
          <p:cNvPicPr>
            <a:picLocks noChangeAspect="1"/>
          </p:cNvPicPr>
          <p:nvPr/>
        </p:nvPicPr>
        <p:blipFill>
          <a:blip r:embed="rId3"/>
          <a:stretch>
            <a:fillRect/>
          </a:stretch>
        </p:blipFill>
        <p:spPr>
          <a:xfrm>
            <a:off x="251460" y="1778522"/>
            <a:ext cx="3191256" cy="4273473"/>
          </a:xfrm>
          <a:prstGeom prst="rect">
            <a:avLst/>
          </a:prstGeom>
        </p:spPr>
      </p:pic>
      <p:sp>
        <p:nvSpPr>
          <p:cNvPr id="5" name="TextBox 4">
            <a:extLst>
              <a:ext uri="{FF2B5EF4-FFF2-40B4-BE49-F238E27FC236}">
                <a16:creationId xmlns:a16="http://schemas.microsoft.com/office/drawing/2014/main" id="{D9CCBA89-0F01-DCD8-029E-5E92964975AE}"/>
              </a:ext>
            </a:extLst>
          </p:cNvPr>
          <p:cNvSpPr txBox="1"/>
          <p:nvPr/>
        </p:nvSpPr>
        <p:spPr>
          <a:xfrm>
            <a:off x="6096000" y="1132191"/>
            <a:ext cx="3291840" cy="369332"/>
          </a:xfrm>
          <a:prstGeom prst="rect">
            <a:avLst/>
          </a:prstGeom>
          <a:noFill/>
        </p:spPr>
        <p:txBody>
          <a:bodyPr wrap="square" rtlCol="0">
            <a:spAutoFit/>
          </a:bodyPr>
          <a:lstStyle/>
          <a:p>
            <a:r>
              <a:rPr lang="en-IN" sz="1800" dirty="0">
                <a:latin typeface="Verdana" panose="020B0604030504040204" pitchFamily="34" charset="0"/>
                <a:ea typeface="Verdana" panose="020B0604030504040204" pitchFamily="34" charset="0"/>
              </a:rPr>
              <a:t>Booking State Machine</a:t>
            </a:r>
          </a:p>
        </p:txBody>
      </p:sp>
      <p:pic>
        <p:nvPicPr>
          <p:cNvPr id="10" name="Picture 9">
            <a:extLst>
              <a:ext uri="{FF2B5EF4-FFF2-40B4-BE49-F238E27FC236}">
                <a16:creationId xmlns:a16="http://schemas.microsoft.com/office/drawing/2014/main" id="{8E844F1C-67AD-A18B-79E8-93D4F9FB7A2C}"/>
              </a:ext>
            </a:extLst>
          </p:cNvPr>
          <p:cNvPicPr>
            <a:picLocks noChangeAspect="1"/>
          </p:cNvPicPr>
          <p:nvPr/>
        </p:nvPicPr>
        <p:blipFill>
          <a:blip r:embed="rId4"/>
          <a:stretch>
            <a:fillRect/>
          </a:stretch>
        </p:blipFill>
        <p:spPr>
          <a:xfrm>
            <a:off x="5945124" y="1218438"/>
            <a:ext cx="3886200" cy="5829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048622" name="Google Shape;114;p17"/>
          <p:cNvSpPr txBox="1">
            <a:spLocks noGrp="1"/>
          </p:cNvSpPr>
          <p:nvPr>
            <p:ph type="title"/>
          </p:nvPr>
        </p:nvSpPr>
        <p:spPr>
          <a:xfrm>
            <a:off x="904240"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Results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048626"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endParaRPr lang="en-US" sz="3600"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2097154"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725</Words>
  <Application>Microsoft Office PowerPoint</Application>
  <PresentationFormat>Widescreen</PresentationFormat>
  <Paragraphs>54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Cambria</vt:lpstr>
      <vt:lpstr>Verdana</vt:lpstr>
      <vt:lpstr>Wingdings</vt:lpstr>
      <vt:lpstr>Bioinformatics</vt:lpstr>
      <vt:lpstr>Development of a Digital Mental Health and Psychological Support System for Students in Higher Education </vt:lpstr>
      <vt:lpstr>Problem Statement Number: </vt:lpstr>
      <vt:lpstr>Content</vt:lpstr>
      <vt:lpstr>Problem Statement</vt:lpstr>
      <vt:lpstr>Objectives</vt:lpstr>
      <vt:lpstr>Alogrithm Details</vt:lpstr>
      <vt:lpstr>Alogrithm Details</vt:lpstr>
      <vt:lpstr>Results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Varun Bantia</cp:lastModifiedBy>
  <cp:revision>3</cp:revision>
  <dcterms:created xsi:type="dcterms:W3CDTF">2025-08-12T16:46:22Z</dcterms:created>
  <dcterms:modified xsi:type="dcterms:W3CDTF">2026-03-02T06:54:50Z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1a0a1e6851d74b63a855fc9bb534e9a8</vt:lpwstr>
  </property>
</Properties>
</file>